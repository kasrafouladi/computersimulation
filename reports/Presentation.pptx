
<file path=[Content_Types].xml><?xml version="1.0" encoding="utf-8"?>
<Types xmlns="http://schemas.openxmlformats.org/package/2006/content-types">
  <Default Extension="png" ContentType="image/png"/>
  <Default Extension="svg" ContentType="image/svg+xml"/>
  <Default Extension="jpeg" ContentType="image/jpeg"/>
  <Default Extension="rels" ContentType="application/vnd.openxmlformats-package.relationships+xml"/>
  <Default Extension="xml" ContentType="application/xml"/>
  <Default Extension="fntdata" ContentType="application/x-fontdata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3"/>
  </p:notesMasterIdLst>
  <p:sldIdLst>
    <p:sldId id="256" r:id="rId2"/>
    <p:sldId id="257" r:id="rId3"/>
    <p:sldId id="266" r:id="rId4"/>
    <p:sldId id="267" r:id="rId5"/>
    <p:sldId id="259" r:id="rId6"/>
    <p:sldId id="260" r:id="rId7"/>
    <p:sldId id="261" r:id="rId8"/>
    <p:sldId id="262" r:id="rId9"/>
    <p:sldId id="263" r:id="rId10"/>
    <p:sldId id="264" r:id="rId11"/>
    <p:sldId id="265" r:id="rId12"/>
  </p:sldIdLst>
  <p:sldSz cx="9144000" cy="5143500" type="screen16x9"/>
  <p:notesSz cx="5143500" cy="9144000"/>
  <p:embeddedFontLst>
    <p:embeddedFont>
      <p:font typeface="Source Serif 4 Bold" panose="020B0604020202020204" charset="0"/>
      <p:regular r:id="rId14"/>
    </p:embeddedFont>
    <p:embeddedFont>
      <p:font typeface="Platypi Medium" panose="020B0604020202020204" charset="0"/>
      <p:regular r:id="rId15"/>
    </p:embeddedFont>
    <p:embeddedFont>
      <p:font typeface="Source Serif 4" panose="020B0604020202020204" charset="0"/>
      <p:regular r:id="rId16"/>
    </p:embeddedFont>
    <p:embeddedFont>
      <p:font typeface="Calibri" panose="020F0502020204030204" pitchFamily="34" charset="0"/>
      <p:regular r:id="rId17"/>
      <p:bold r:id="rId18"/>
      <p:italic r:id="rId19"/>
      <p:boldItalic r:id="rId20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 xmlns=""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xmlns="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20" d="100"/>
          <a:sy n="120" d="100"/>
        </p:scale>
        <p:origin x="-370" y="-72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18" Type="http://schemas.openxmlformats.org/officeDocument/2006/relationships/font" Target="fonts/font5.fntdata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4.fntdata"/><Relationship Id="rId2" Type="http://schemas.openxmlformats.org/officeDocument/2006/relationships/slide" Target="slides/slide1.xml"/><Relationship Id="rId16" Type="http://schemas.openxmlformats.org/officeDocument/2006/relationships/font" Target="fonts/font3.fntdata"/><Relationship Id="rId20" Type="http://schemas.openxmlformats.org/officeDocument/2006/relationships/font" Target="fonts/font7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font" Target="fonts/font2.fntdata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font" Target="fonts/font6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1.fntdata"/><Relationship Id="rId22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22885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2913063" y="0"/>
            <a:ext cx="222885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991E0C6-51FF-4416-A043-466C3177F931}" type="datetimeFigureOut">
              <a:rPr lang="en-US" smtClean="0"/>
              <a:t>7/17/2026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-47625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514350" y="4343400"/>
            <a:ext cx="41148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22885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2913063" y="8685213"/>
            <a:ext cx="222885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BAF39F6-FA29-4336-906B-92816CCB574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056145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7F3F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50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sv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1909018"/>
            <a:ext cx="8151763" cy="88597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 rtl="1">
              <a:lnSpc>
                <a:spcPct val="104000"/>
              </a:lnSpc>
              <a:buNone/>
            </a:pPr>
            <a:r>
              <a:rPr lang="fa-IR" altLang="en-US" sz="2750" dirty="0">
                <a:solidFill>
                  <a:srgbClr val="201B18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شبیه‌ سازی کارگاه تولیدی (Job-Shop) با ماشین‌های CNC</a:t>
            </a:r>
            <a:endParaRPr lang="fa-IR" sz="2750" dirty="0"/>
          </a:p>
        </p:txBody>
      </p:sp>
      <p:sp>
        <p:nvSpPr>
          <p:cNvPr id="3" name="Text 1"/>
          <p:cNvSpPr/>
          <p:nvPr/>
        </p:nvSpPr>
        <p:spPr>
          <a:xfrm>
            <a:off x="38919" y="3007593"/>
            <a:ext cx="8608963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 rtl="1">
              <a:lnSpc>
                <a:spcPct val="133000"/>
              </a:lnSpc>
              <a:buNone/>
            </a:pPr>
            <a:r>
              <a:rPr lang="fa-IR" altLang="en-US" sz="1100" dirty="0" smtClean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ارائه‌ </a:t>
            </a:r>
            <a:r>
              <a:rPr lang="fa-IR" altLang="en-US" sz="110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دهندگان: کسری فولادی، امید طالب‌ پور | بهار ۱۴۰۵</a:t>
            </a:r>
            <a:endParaRPr lang="fa-IR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6119" y="1695673"/>
            <a:ext cx="2628230" cy="1752154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474988" y="1822252"/>
            <a:ext cx="5177582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 rtl="1">
              <a:lnSpc>
                <a:spcPct val="104000"/>
              </a:lnSpc>
              <a:buNone/>
            </a:pPr>
            <a:r>
              <a:rPr lang="fa-IR" altLang="en-US" sz="2750" dirty="0">
                <a:solidFill>
                  <a:srgbClr val="201B18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دستگاه CNC چیست؟</a:t>
            </a:r>
            <a:endParaRPr lang="fa-IR" sz="2750" dirty="0"/>
          </a:p>
        </p:txBody>
      </p:sp>
      <p:sp>
        <p:nvSpPr>
          <p:cNvPr id="4" name="Text 1"/>
          <p:cNvSpPr/>
          <p:nvPr/>
        </p:nvSpPr>
        <p:spPr>
          <a:xfrm>
            <a:off x="3474988" y="2406997"/>
            <a:ext cx="5177582" cy="100637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85000" lnSpcReduction="20000"/>
          </a:bodyPr>
          <a:lstStyle/>
          <a:p>
            <a:pPr marL="223520" indent="-223520" algn="r" rtl="1">
              <a:lnSpc>
                <a:spcPct val="133000"/>
              </a:lnSpc>
              <a:buSzPct val="100000"/>
              <a:buChar char="•"/>
            </a:pPr>
            <a:r>
              <a:rPr lang="fa-IR" altLang="en-US" sz="110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مخفف کنترل عددی کامپیوتری (Computer Numerical Control)</a:t>
            </a:r>
            <a:endParaRPr lang="fa-IR" sz="1100" dirty="0"/>
          </a:p>
          <a:p>
            <a:pPr marL="223520" indent="-223520" algn="r" rtl="1">
              <a:lnSpc>
                <a:spcPct val="133000"/>
              </a:lnSpc>
              <a:buSzPct val="100000"/>
              <a:buChar char="•"/>
            </a:pPr>
            <a:r>
              <a:rPr lang="fa-IR" altLang="en-US" sz="1100" dirty="0" smtClean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دستگاه های </a:t>
            </a:r>
            <a:r>
              <a:rPr lang="en-US" altLang="en-US" sz="1100" dirty="0" smtClean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CNC</a:t>
            </a:r>
            <a:r>
              <a:rPr lang="fa-IR" altLang="en-US" sz="1100" dirty="0" smtClean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، توانایی تراشیدن </a:t>
            </a:r>
            <a:r>
              <a:rPr lang="fa-IR" altLang="en-US" sz="110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قطعه از دل یک بلوک خام فلزی یا پلاستیکی با دقت میکروسکوپی از طریق اجرای </a:t>
            </a:r>
            <a:r>
              <a:rPr lang="fa-IR" altLang="en-US" sz="1100" dirty="0" smtClean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G-code را دارند.</a:t>
            </a:r>
            <a:endParaRPr lang="fa-IR" sz="1100" dirty="0"/>
          </a:p>
          <a:p>
            <a:pPr marL="223520" indent="-223520" algn="r" rtl="1">
              <a:lnSpc>
                <a:spcPct val="133000"/>
              </a:lnSpc>
              <a:buSzPct val="100000"/>
              <a:buChar char="•"/>
            </a:pPr>
            <a:r>
              <a:rPr lang="fa-IR" altLang="en-US" sz="1100" b="1" dirty="0">
                <a:solidFill>
                  <a:srgbClr val="504C49"/>
                </a:solidFill>
                <a:latin typeface="Source Serif 4 Bold" pitchFamily="34" charset="0"/>
                <a:ea typeface="Source Serif 4 Bold" pitchFamily="34" charset="-122"/>
                <a:cs typeface="Source Serif 4 Bold" pitchFamily="34" charset="-120"/>
              </a:rPr>
              <a:t>در این پروژه:</a:t>
            </a:r>
            <a:r>
              <a:rPr lang="fa-IR" altLang="en-US" sz="110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 ۱۰ دستگاه CNC یکسان به عنوان منبع محدود اصلی سیستم در نظر گرفته شده (البته سناریو های مختلف نیز بررسی شده). </a:t>
            </a:r>
            <a:r>
              <a:rPr lang="fa-IR" altLang="en-US" sz="1100" dirty="0" smtClean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دستگاه ها قابلیت خرابی را دارند، همچنین یک سیستم </a:t>
            </a:r>
            <a:r>
              <a:rPr lang="en-US" altLang="en-US" sz="1100" dirty="0" smtClean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buffer</a:t>
            </a:r>
            <a:r>
              <a:rPr lang="fa-IR" altLang="en-US" sz="1100" dirty="0" smtClean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 برای زمانی که دستگاهی آزاد نیست شبیه سازی شده.  همچنین انواع مختلف پردازش (</a:t>
            </a:r>
            <a:r>
              <a:rPr lang="en-US" altLang="en-US" sz="1100" dirty="0" smtClean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job</a:t>
            </a:r>
            <a:r>
              <a:rPr lang="fa-IR" altLang="en-US" sz="1100" dirty="0" smtClean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 ها</a:t>
            </a:r>
            <a:r>
              <a:rPr lang="en-US" altLang="en-US" sz="1100" dirty="0" smtClean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(</a:t>
            </a:r>
            <a:r>
              <a:rPr lang="fa-IR" altLang="en-US" sz="1100" dirty="0" smtClean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 نیز در نظر گرفته شده، و قابلیت های جزئی دیگر که در بررسی مدل سازی آن ها را خواهیم دید. </a:t>
            </a:r>
            <a:endParaRPr lang="fa-IR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395883"/>
            <a:ext cx="8151763" cy="37378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rtl="1">
              <a:lnSpc>
                <a:spcPct val="104000"/>
              </a:lnSpc>
            </a:pPr>
            <a:r>
              <a:rPr lang="fa-IR" altLang="en-US" sz="2350" dirty="0">
                <a:solidFill>
                  <a:srgbClr val="201B18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مدل سازی – روند پردازش قطعات (</a:t>
            </a:r>
            <a:r>
              <a:rPr lang="en-US" altLang="en-US" sz="2350" dirty="0">
                <a:solidFill>
                  <a:srgbClr val="201B18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job</a:t>
            </a:r>
            <a:r>
              <a:rPr lang="fa-IR" altLang="en-US" sz="2350" dirty="0">
                <a:solidFill>
                  <a:srgbClr val="201B18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 ها)</a:t>
            </a:r>
            <a:endParaRPr lang="fa-IR" sz="2350" dirty="0"/>
          </a:p>
        </p:txBody>
      </p:sp>
      <p:sp>
        <p:nvSpPr>
          <p:cNvPr id="4" name="Text 1"/>
          <p:cNvSpPr/>
          <p:nvPr/>
        </p:nvSpPr>
        <p:spPr>
          <a:xfrm>
            <a:off x="6236110" y="3796581"/>
            <a:ext cx="1834101" cy="2292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 rtl="1">
              <a:lnSpc>
                <a:spcPct val="104000"/>
              </a:lnSpc>
              <a:buNone/>
            </a:pPr>
            <a:r>
              <a:rPr lang="fa-IR" altLang="en-US" sz="1400" dirty="0">
                <a:solidFill>
                  <a:srgbClr val="FFFFFF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ماشین‌های CNC</a:t>
            </a:r>
            <a:endParaRPr lang="fa-IR" sz="1400" dirty="0"/>
          </a:p>
        </p:txBody>
      </p:sp>
      <p:sp>
        <p:nvSpPr>
          <p:cNvPr id="5" name="Text 2"/>
          <p:cNvSpPr/>
          <p:nvPr/>
        </p:nvSpPr>
        <p:spPr>
          <a:xfrm>
            <a:off x="6236110" y="2989577"/>
            <a:ext cx="1834101" cy="2292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 rtl="1">
              <a:lnSpc>
                <a:spcPct val="104000"/>
              </a:lnSpc>
              <a:buNone/>
            </a:pPr>
            <a:r>
              <a:rPr lang="ar-SA" altLang="en-US" sz="1400" dirty="0">
                <a:solidFill>
                  <a:srgbClr val="FFFFFF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صف/بافر</a:t>
            </a:r>
            <a:endParaRPr lang="ar-SA" sz="1400" dirty="0"/>
          </a:p>
        </p:txBody>
      </p:sp>
      <p:sp>
        <p:nvSpPr>
          <p:cNvPr id="6" name="Text 3"/>
          <p:cNvSpPr/>
          <p:nvPr/>
        </p:nvSpPr>
        <p:spPr>
          <a:xfrm>
            <a:off x="6236110" y="2190724"/>
            <a:ext cx="1834101" cy="2292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 rtl="1">
              <a:lnSpc>
                <a:spcPct val="104000"/>
              </a:lnSpc>
              <a:buNone/>
            </a:pPr>
            <a:r>
              <a:rPr lang="fa-IR" altLang="en-US" sz="1400" dirty="0">
                <a:solidFill>
                  <a:srgbClr val="FFFFFF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بازرسی</a:t>
            </a:r>
            <a:endParaRPr lang="fa-IR" sz="1400" dirty="0"/>
          </a:p>
        </p:txBody>
      </p:sp>
      <p:sp>
        <p:nvSpPr>
          <p:cNvPr id="7" name="Text 4"/>
          <p:cNvSpPr/>
          <p:nvPr/>
        </p:nvSpPr>
        <p:spPr>
          <a:xfrm>
            <a:off x="6236110" y="1383719"/>
            <a:ext cx="1834101" cy="2292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 rtl="1">
              <a:lnSpc>
                <a:spcPct val="104000"/>
              </a:lnSpc>
              <a:buNone/>
            </a:pPr>
            <a:r>
              <a:rPr lang="ar-SA" altLang="en-US" sz="1400" dirty="0">
                <a:solidFill>
                  <a:srgbClr val="FFFFFF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ورود</a:t>
            </a:r>
            <a:endParaRPr lang="ar-SA" sz="1400" dirty="0"/>
          </a:p>
        </p:txBody>
      </p:sp>
      <p:pic>
        <p:nvPicPr>
          <p:cNvPr id="1028" name="Picture 4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1167718"/>
            <a:ext cx="9144000" cy="316044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416647521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395883"/>
            <a:ext cx="8151763" cy="37378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 rtl="1">
              <a:lnSpc>
                <a:spcPct val="104000"/>
              </a:lnSpc>
              <a:buNone/>
            </a:pPr>
            <a:r>
              <a:rPr lang="fa-IR" altLang="en-US" sz="2350" dirty="0">
                <a:solidFill>
                  <a:srgbClr val="201B18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مدل سازی </a:t>
            </a:r>
            <a:r>
              <a:rPr lang="fa-IR" altLang="en-US" sz="2350" dirty="0" smtClean="0">
                <a:solidFill>
                  <a:srgbClr val="201B18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– روند کار و خرابی دستگاه</a:t>
            </a:r>
            <a:endParaRPr lang="fa-IR" sz="2350" dirty="0"/>
          </a:p>
        </p:txBody>
      </p:sp>
      <p:sp>
        <p:nvSpPr>
          <p:cNvPr id="4" name="Text 1"/>
          <p:cNvSpPr/>
          <p:nvPr/>
        </p:nvSpPr>
        <p:spPr>
          <a:xfrm>
            <a:off x="6236110" y="3796581"/>
            <a:ext cx="1834101" cy="2292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 rtl="1">
              <a:lnSpc>
                <a:spcPct val="104000"/>
              </a:lnSpc>
              <a:buNone/>
            </a:pPr>
            <a:r>
              <a:rPr lang="fa-IR" altLang="en-US" sz="1400" dirty="0">
                <a:solidFill>
                  <a:srgbClr val="FFFFFF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ماشین‌های CNC</a:t>
            </a:r>
            <a:endParaRPr lang="fa-IR" sz="1400" dirty="0"/>
          </a:p>
        </p:txBody>
      </p:sp>
      <p:sp>
        <p:nvSpPr>
          <p:cNvPr id="5" name="Text 2"/>
          <p:cNvSpPr/>
          <p:nvPr/>
        </p:nvSpPr>
        <p:spPr>
          <a:xfrm>
            <a:off x="6236110" y="2989577"/>
            <a:ext cx="1834101" cy="2292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 rtl="1">
              <a:lnSpc>
                <a:spcPct val="104000"/>
              </a:lnSpc>
              <a:buNone/>
            </a:pPr>
            <a:r>
              <a:rPr lang="ar-SA" altLang="en-US" sz="1400" dirty="0">
                <a:solidFill>
                  <a:srgbClr val="FFFFFF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صف/بافر</a:t>
            </a:r>
            <a:endParaRPr lang="ar-SA" sz="1400" dirty="0"/>
          </a:p>
        </p:txBody>
      </p:sp>
      <p:sp>
        <p:nvSpPr>
          <p:cNvPr id="6" name="Text 3"/>
          <p:cNvSpPr/>
          <p:nvPr/>
        </p:nvSpPr>
        <p:spPr>
          <a:xfrm>
            <a:off x="6236110" y="2190724"/>
            <a:ext cx="1834101" cy="2292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 rtl="1">
              <a:lnSpc>
                <a:spcPct val="104000"/>
              </a:lnSpc>
              <a:buNone/>
            </a:pPr>
            <a:r>
              <a:rPr lang="fa-IR" altLang="en-US" sz="1400" dirty="0">
                <a:solidFill>
                  <a:srgbClr val="FFFFFF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بازرسی</a:t>
            </a:r>
            <a:endParaRPr lang="fa-IR" sz="1400" dirty="0"/>
          </a:p>
        </p:txBody>
      </p:sp>
      <p:sp>
        <p:nvSpPr>
          <p:cNvPr id="7" name="Text 4"/>
          <p:cNvSpPr/>
          <p:nvPr/>
        </p:nvSpPr>
        <p:spPr>
          <a:xfrm>
            <a:off x="6236110" y="1383719"/>
            <a:ext cx="1834101" cy="2292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 rtl="1">
              <a:lnSpc>
                <a:spcPct val="104000"/>
              </a:lnSpc>
              <a:buNone/>
            </a:pPr>
            <a:r>
              <a:rPr lang="ar-SA" altLang="en-US" sz="1400" dirty="0">
                <a:solidFill>
                  <a:srgbClr val="FFFFFF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ورود</a:t>
            </a:r>
            <a:endParaRPr lang="ar-SA" sz="1400" dirty="0"/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30480" y="990247"/>
            <a:ext cx="9144000" cy="307883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49762958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1282675"/>
            <a:ext cx="8151763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 rtl="1">
              <a:lnSpc>
                <a:spcPct val="104000"/>
              </a:lnSpc>
              <a:buNone/>
            </a:pPr>
            <a:r>
              <a:rPr lang="fa-IR" altLang="en-US" sz="2750" dirty="0">
                <a:solidFill>
                  <a:srgbClr val="201B18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توزیع‌ های آماری مورد استفاده</a:t>
            </a:r>
            <a:r>
              <a:rPr lang="en-US" altLang="en-US" sz="2750" dirty="0">
                <a:solidFill>
                  <a:srgbClr val="201B18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 </a:t>
            </a:r>
            <a:r>
              <a:rPr lang="fa-IR" altLang="en-US" sz="2750" dirty="0">
                <a:solidFill>
                  <a:srgbClr val="201B18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 در مدل سازی</a:t>
            </a:r>
            <a:endParaRPr lang="fa-IR" sz="275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xmlns="" r:embed="rId4"/>
              </a:ext>
            </a:extLst>
          </a:blip>
          <a:stretch>
            <a:fillRect/>
          </a:stretch>
        </p:blipFill>
        <p:spPr>
          <a:xfrm>
            <a:off x="4642917" y="2009180"/>
            <a:ext cx="4004965" cy="854943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803725" y="2169988"/>
            <a:ext cx="3607147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 rtl="1">
              <a:lnSpc>
                <a:spcPct val="104000"/>
              </a:lnSpc>
              <a:buNone/>
            </a:pPr>
            <a:r>
              <a:rPr lang="fa-IR" altLang="en-US" sz="1350" dirty="0">
                <a:solidFill>
                  <a:srgbClr val="504C49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زمان بین </a:t>
            </a:r>
            <a:r>
              <a:rPr lang="fa-IR" altLang="en-US" sz="1350" dirty="0" smtClean="0">
                <a:solidFill>
                  <a:srgbClr val="504C49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ورود های قطعات:</a:t>
            </a:r>
            <a:endParaRPr lang="fa-IR" sz="1350" dirty="0"/>
          </a:p>
        </p:txBody>
      </p:sp>
      <p:sp>
        <p:nvSpPr>
          <p:cNvPr id="5" name="Text 2"/>
          <p:cNvSpPr/>
          <p:nvPr/>
        </p:nvSpPr>
        <p:spPr>
          <a:xfrm>
            <a:off x="4803725" y="2476500"/>
            <a:ext cx="3607147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 rtl="1">
              <a:lnSpc>
                <a:spcPct val="133000"/>
              </a:lnSpc>
              <a:buNone/>
            </a:pPr>
            <a:r>
              <a:rPr lang="fa-IR" altLang="en-US" sz="1100" b="1" dirty="0">
                <a:solidFill>
                  <a:srgbClr val="504C49"/>
                </a:solidFill>
                <a:latin typeface="Source Serif 4 Bold" pitchFamily="34" charset="0"/>
                <a:ea typeface="Source Serif 4 Bold" pitchFamily="34" charset="-122"/>
                <a:cs typeface="Source Serif 4 Bold" pitchFamily="34" charset="-120"/>
              </a:rPr>
              <a:t>نمایی (Exponential</a:t>
            </a:r>
            <a:r>
              <a:rPr lang="fa-IR" altLang="en-US" sz="1100" b="1" dirty="0" smtClean="0">
                <a:solidFill>
                  <a:srgbClr val="504C49"/>
                </a:solidFill>
                <a:latin typeface="Source Serif 4 Bold" pitchFamily="34" charset="0"/>
                <a:ea typeface="Source Serif 4 Bold" pitchFamily="34" charset="-122"/>
                <a:cs typeface="Source Serif 4 Bold" pitchFamily="34" charset="-120"/>
              </a:rPr>
              <a:t>)</a:t>
            </a:r>
            <a:endParaRPr lang="fa-IR" sz="1100" dirty="0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xmlns="" r:embed="rId4"/>
              </a:ext>
            </a:extLst>
          </a:blip>
          <a:stretch>
            <a:fillRect/>
          </a:stretch>
        </p:blipFill>
        <p:spPr>
          <a:xfrm>
            <a:off x="496119" y="2009180"/>
            <a:ext cx="4005039" cy="854943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656927" y="2169988"/>
            <a:ext cx="360722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 rtl="1">
              <a:lnSpc>
                <a:spcPct val="104000"/>
              </a:lnSpc>
              <a:buNone/>
            </a:pPr>
            <a:r>
              <a:rPr lang="fa-IR" altLang="en-US" sz="1350" dirty="0">
                <a:solidFill>
                  <a:srgbClr val="504C49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زمان </a:t>
            </a:r>
            <a:r>
              <a:rPr lang="fa-IR" altLang="en-US" sz="1350" dirty="0" smtClean="0">
                <a:solidFill>
                  <a:srgbClr val="504C49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پردازش قطعات (</a:t>
            </a:r>
            <a:r>
              <a:rPr lang="en-US" altLang="en-US" sz="1350" dirty="0" smtClean="0">
                <a:solidFill>
                  <a:srgbClr val="504C49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job</a:t>
            </a:r>
            <a:r>
              <a:rPr lang="fa-IR" altLang="en-US" sz="1350" dirty="0" smtClean="0">
                <a:solidFill>
                  <a:srgbClr val="504C49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 ها):</a:t>
            </a:r>
            <a:endParaRPr lang="fa-IR" sz="1350" dirty="0"/>
          </a:p>
        </p:txBody>
      </p:sp>
      <p:sp>
        <p:nvSpPr>
          <p:cNvPr id="8" name="Text 4"/>
          <p:cNvSpPr/>
          <p:nvPr/>
        </p:nvSpPr>
        <p:spPr>
          <a:xfrm>
            <a:off x="656927" y="2476500"/>
            <a:ext cx="3607222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 rtl="1">
              <a:lnSpc>
                <a:spcPct val="133000"/>
              </a:lnSpc>
              <a:buNone/>
            </a:pPr>
            <a:r>
              <a:rPr lang="fa-IR" altLang="en-US" sz="1100" b="1" dirty="0">
                <a:solidFill>
                  <a:srgbClr val="504C49"/>
                </a:solidFill>
                <a:latin typeface="Source Serif 4 Bold" pitchFamily="34" charset="0"/>
                <a:ea typeface="Source Serif 4 Bold" pitchFamily="34" charset="-122"/>
                <a:cs typeface="Source Serif 4 Bold" pitchFamily="34" charset="-120"/>
              </a:rPr>
              <a:t>لگ‌ نرمال (Log-normal</a:t>
            </a:r>
            <a:r>
              <a:rPr lang="fa-IR" altLang="en-US" sz="1100" b="1" dirty="0" smtClean="0">
                <a:solidFill>
                  <a:srgbClr val="504C49"/>
                </a:solidFill>
                <a:latin typeface="Source Serif 4 Bold" pitchFamily="34" charset="0"/>
                <a:ea typeface="Source Serif 4 Bold" pitchFamily="34" charset="-122"/>
                <a:cs typeface="Source Serif 4 Bold" pitchFamily="34" charset="-120"/>
              </a:rPr>
              <a:t>)</a:t>
            </a:r>
            <a:endParaRPr lang="fa-IR" sz="1100" dirty="0"/>
          </a:p>
        </p:txBody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xmlns="" r:embed="rId4"/>
              </a:ext>
            </a:extLst>
          </a:blip>
          <a:stretch>
            <a:fillRect/>
          </a:stretch>
        </p:blipFill>
        <p:spPr>
          <a:xfrm>
            <a:off x="4642917" y="3005882"/>
            <a:ext cx="4004965" cy="854943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4803725" y="3166690"/>
            <a:ext cx="3607147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 rtl="1">
              <a:lnSpc>
                <a:spcPct val="104000"/>
              </a:lnSpc>
              <a:buNone/>
            </a:pPr>
            <a:r>
              <a:rPr lang="fa-IR" altLang="en-US" sz="1350" dirty="0" smtClean="0">
                <a:solidFill>
                  <a:srgbClr val="504C49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ریسک قبول نشدن در تست کیفیت: </a:t>
            </a:r>
            <a:endParaRPr lang="fa-IR" sz="1350" dirty="0"/>
          </a:p>
        </p:txBody>
      </p:sp>
      <p:sp>
        <p:nvSpPr>
          <p:cNvPr id="11" name="Text 6"/>
          <p:cNvSpPr/>
          <p:nvPr/>
        </p:nvSpPr>
        <p:spPr>
          <a:xfrm>
            <a:off x="4803725" y="3473202"/>
            <a:ext cx="3607147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 rtl="1">
              <a:lnSpc>
                <a:spcPct val="133000"/>
              </a:lnSpc>
              <a:buNone/>
            </a:pPr>
            <a:r>
              <a:rPr lang="ar-SA" altLang="en-US" sz="1100" b="1" dirty="0">
                <a:solidFill>
                  <a:srgbClr val="504C49"/>
                </a:solidFill>
                <a:latin typeface="Source Serif 4 Bold" pitchFamily="34" charset="0"/>
                <a:ea typeface="Source Serif 4 Bold" pitchFamily="34" charset="-122"/>
                <a:cs typeface="Source Serif 4 Bold" pitchFamily="34" charset="-120"/>
              </a:rPr>
              <a:t>بتا (</a:t>
            </a:r>
            <a:r>
              <a:rPr lang="ar-SA" altLang="en-US" sz="1100" b="1" dirty="0" smtClean="0">
                <a:solidFill>
                  <a:srgbClr val="504C49"/>
                </a:solidFill>
                <a:latin typeface="Source Serif 4 Bold" pitchFamily="34" charset="0"/>
                <a:ea typeface="Source Serif 4 Bold" pitchFamily="34" charset="-122"/>
                <a:cs typeface="Source Serif 4 Bold" pitchFamily="34" charset="-120"/>
              </a:rPr>
              <a:t>۲،۲)</a:t>
            </a:r>
            <a:endParaRPr lang="fa-IR" sz="1100" dirty="0"/>
          </a:p>
        </p:txBody>
      </p:sp>
      <p:pic>
        <p:nvPicPr>
          <p:cNvPr id="12" name="Image 3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xmlns="" r:embed="rId4"/>
              </a:ext>
            </a:extLst>
          </a:blip>
          <a:stretch>
            <a:fillRect/>
          </a:stretch>
        </p:blipFill>
        <p:spPr>
          <a:xfrm>
            <a:off x="496119" y="3005882"/>
            <a:ext cx="4005039" cy="854943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656927" y="3166690"/>
            <a:ext cx="360722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 rtl="1">
              <a:lnSpc>
                <a:spcPct val="104000"/>
              </a:lnSpc>
              <a:buNone/>
            </a:pPr>
            <a:r>
              <a:rPr lang="fa-IR" sz="1350" dirty="0" smtClean="0">
                <a:latin typeface="Platypi Medium" panose="020B0604020202020204" charset="0"/>
              </a:rPr>
              <a:t>خرابی ماشین و زمان</a:t>
            </a:r>
            <a:r>
              <a:rPr lang="en-US" sz="1350" dirty="0">
                <a:latin typeface="Platypi Medium" panose="020B0604020202020204" charset="0"/>
                <a:cs typeface="Platypi Medium" panose="020B0604020202020204" charset="0"/>
              </a:rPr>
              <a:t> </a:t>
            </a:r>
            <a:r>
              <a:rPr lang="fa-IR" sz="1350" b="1" dirty="0">
                <a:latin typeface="Platypi Medium" panose="020B0604020202020204" charset="0"/>
              </a:rPr>
              <a:t> </a:t>
            </a:r>
            <a:r>
              <a:rPr lang="en-US" sz="1350" dirty="0" smtClean="0">
                <a:latin typeface="Platypi Medium" panose="020B0604020202020204" charset="0"/>
                <a:cs typeface="Platypi Medium" panose="020B0604020202020204" charset="0"/>
              </a:rPr>
              <a:t>Time-Out</a:t>
            </a:r>
            <a:r>
              <a:rPr lang="fa-IR" sz="1350" dirty="0" smtClean="0">
                <a:latin typeface="Platypi Medium" panose="020B0604020202020204" charset="0"/>
              </a:rPr>
              <a:t>: </a:t>
            </a:r>
            <a:endParaRPr lang="fa-IR" sz="1350" dirty="0">
              <a:latin typeface="Platypi Medium" panose="020B0604020202020204" charset="0"/>
            </a:endParaRPr>
          </a:p>
        </p:txBody>
      </p:sp>
      <p:sp>
        <p:nvSpPr>
          <p:cNvPr id="14" name="Text 8"/>
          <p:cNvSpPr/>
          <p:nvPr/>
        </p:nvSpPr>
        <p:spPr>
          <a:xfrm>
            <a:off x="656927" y="3473202"/>
            <a:ext cx="3607222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 rtl="1">
              <a:lnSpc>
                <a:spcPct val="133000"/>
              </a:lnSpc>
              <a:buNone/>
            </a:pPr>
            <a:r>
              <a:rPr lang="fa-IR" altLang="en-US" sz="1100" b="1" dirty="0" smtClean="0">
                <a:solidFill>
                  <a:srgbClr val="504C49"/>
                </a:solidFill>
                <a:latin typeface="Source Serif 4 Bold" pitchFamily="34" charset="0"/>
                <a:ea typeface="Source Serif 4 Bold" pitchFamily="34" charset="-122"/>
                <a:cs typeface="Source Serif 4 Bold" pitchFamily="34" charset="-120"/>
              </a:rPr>
              <a:t>نمایی (</a:t>
            </a:r>
            <a:r>
              <a:rPr lang="en-US" altLang="en-US" sz="1100" b="1" dirty="0" smtClean="0">
                <a:solidFill>
                  <a:srgbClr val="504C49"/>
                </a:solidFill>
                <a:latin typeface="Source Serif 4 Bold" pitchFamily="34" charset="0"/>
                <a:ea typeface="Source Serif 4 Bold" pitchFamily="34" charset="-122"/>
                <a:cs typeface="Source Serif 4 Bold" pitchFamily="34" charset="-120"/>
              </a:rPr>
              <a:t>Exponential</a:t>
            </a:r>
            <a:r>
              <a:rPr lang="fa-IR" altLang="en-US" sz="1100" b="1" dirty="0" smtClean="0">
                <a:solidFill>
                  <a:srgbClr val="504C49"/>
                </a:solidFill>
                <a:latin typeface="Source Serif 4 Bold" pitchFamily="34" charset="0"/>
                <a:ea typeface="Source Serif 4 Bold" pitchFamily="34" charset="-122"/>
                <a:cs typeface="Source Serif 4 Bold" pitchFamily="34" charset="-120"/>
              </a:rPr>
              <a:t>)</a:t>
            </a:r>
            <a:endParaRPr lang="fa-IR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972443"/>
            <a:ext cx="8151763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 rtl="1">
              <a:lnSpc>
                <a:spcPct val="104000"/>
              </a:lnSpc>
              <a:buNone/>
            </a:pPr>
            <a:r>
              <a:rPr lang="fa-IR" altLang="en-US" sz="2750" dirty="0">
                <a:solidFill>
                  <a:srgbClr val="201B18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سناریوهای آزمایش‌شده</a:t>
            </a:r>
            <a:endParaRPr lang="fa-IR" sz="2750" dirty="0"/>
          </a:p>
        </p:txBody>
      </p:sp>
      <p:sp>
        <p:nvSpPr>
          <p:cNvPr id="3" name="Shape 1"/>
          <p:cNvSpPr/>
          <p:nvPr/>
        </p:nvSpPr>
        <p:spPr>
          <a:xfrm>
            <a:off x="496119" y="1698947"/>
            <a:ext cx="8151763" cy="2472035"/>
          </a:xfrm>
          <a:prstGeom prst="roundRect">
            <a:avLst>
              <a:gd name="adj" fmla="val 860"/>
            </a:avLst>
          </a:prstGeom>
          <a:noFill/>
          <a:ln w="4763">
            <a:solidFill>
              <a:srgbClr val="000000">
                <a:alpha val="8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96119" y="2112541"/>
            <a:ext cx="8151763" cy="8860"/>
          </a:xfrm>
          <a:prstGeom prst="rect">
            <a:avLst/>
          </a:prstGeom>
          <a:solidFill>
            <a:srgbClr val="000000">
              <a:alpha val="8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496119" y="2523753"/>
            <a:ext cx="8151763" cy="8860"/>
          </a:xfrm>
          <a:prstGeom prst="rect">
            <a:avLst/>
          </a:prstGeom>
          <a:solidFill>
            <a:srgbClr val="000000">
              <a:alpha val="8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496119" y="2934965"/>
            <a:ext cx="8151763" cy="8860"/>
          </a:xfrm>
          <a:prstGeom prst="rect">
            <a:avLst/>
          </a:prstGeom>
          <a:solidFill>
            <a:srgbClr val="000000">
              <a:alpha val="8000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496119" y="3346177"/>
            <a:ext cx="8151763" cy="8860"/>
          </a:xfrm>
          <a:prstGeom prst="rect">
            <a:avLst/>
          </a:prstGeom>
          <a:solidFill>
            <a:srgbClr val="000000">
              <a:alpha val="8000"/>
            </a:srgbClr>
          </a:solidFill>
          <a:ln/>
        </p:spPr>
      </p:sp>
      <p:sp>
        <p:nvSpPr>
          <p:cNvPr id="8" name="Shape 6"/>
          <p:cNvSpPr/>
          <p:nvPr/>
        </p:nvSpPr>
        <p:spPr>
          <a:xfrm>
            <a:off x="496119" y="3757389"/>
            <a:ext cx="8151763" cy="8860"/>
          </a:xfrm>
          <a:prstGeom prst="rect">
            <a:avLst/>
          </a:prstGeom>
          <a:solidFill>
            <a:srgbClr val="000000">
              <a:alpha val="8000"/>
            </a:srgbClr>
          </a:solidFill>
          <a:ln/>
        </p:spPr>
      </p:sp>
      <p:sp>
        <p:nvSpPr>
          <p:cNvPr id="9" name="Shape 7"/>
          <p:cNvSpPr/>
          <p:nvPr/>
        </p:nvSpPr>
        <p:spPr>
          <a:xfrm>
            <a:off x="501104" y="1703710"/>
            <a:ext cx="1791221" cy="408831"/>
          </a:xfrm>
          <a:prstGeom prst="rect">
            <a:avLst/>
          </a:prstGeom>
          <a:solidFill>
            <a:srgbClr val="3E2513"/>
          </a:solidFill>
          <a:ln/>
        </p:spPr>
      </p:sp>
      <p:sp>
        <p:nvSpPr>
          <p:cNvPr id="10" name="Text 8"/>
          <p:cNvSpPr/>
          <p:nvPr/>
        </p:nvSpPr>
        <p:spPr>
          <a:xfrm>
            <a:off x="185663" y="1793528"/>
            <a:ext cx="1964903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 rtl="1">
              <a:lnSpc>
                <a:spcPct val="133000"/>
              </a:lnSpc>
              <a:buNone/>
            </a:pPr>
            <a:r>
              <a:rPr lang="fa-IR" altLang="en-US" sz="1100" b="1" dirty="0">
                <a:solidFill>
                  <a:srgbClr val="FFFFFF"/>
                </a:solidFill>
                <a:latin typeface="Source Serif 4 Bold" pitchFamily="34" charset="0"/>
                <a:ea typeface="Source Serif 4 Bold" pitchFamily="34" charset="-122"/>
                <a:cs typeface="Source Serif 4 Bold" pitchFamily="34" charset="-120"/>
              </a:rPr>
              <a:t>سناریو</a:t>
            </a:r>
            <a:endParaRPr lang="fa-IR" sz="1100" dirty="0"/>
          </a:p>
        </p:txBody>
      </p:sp>
      <p:sp>
        <p:nvSpPr>
          <p:cNvPr id="11" name="Shape 9"/>
          <p:cNvSpPr/>
          <p:nvPr/>
        </p:nvSpPr>
        <p:spPr>
          <a:xfrm>
            <a:off x="2292325" y="1703710"/>
            <a:ext cx="1465585" cy="408831"/>
          </a:xfrm>
          <a:prstGeom prst="rect">
            <a:avLst/>
          </a:prstGeom>
          <a:solidFill>
            <a:srgbClr val="3E2513"/>
          </a:solidFill>
          <a:ln/>
        </p:spPr>
      </p:sp>
      <p:sp>
        <p:nvSpPr>
          <p:cNvPr id="12" name="Text 10"/>
          <p:cNvSpPr/>
          <p:nvPr/>
        </p:nvSpPr>
        <p:spPr>
          <a:xfrm>
            <a:off x="1976884" y="1793528"/>
            <a:ext cx="1639267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 rtl="1">
              <a:lnSpc>
                <a:spcPct val="133000"/>
              </a:lnSpc>
              <a:buNone/>
            </a:pPr>
            <a:r>
              <a:rPr lang="fa-IR" altLang="en-US" sz="1100" b="1" dirty="0">
                <a:solidFill>
                  <a:srgbClr val="FFFFFF"/>
                </a:solidFill>
                <a:latin typeface="Source Serif 4 Bold" pitchFamily="34" charset="0"/>
                <a:ea typeface="Source Serif 4 Bold" pitchFamily="34" charset="-122"/>
                <a:cs typeface="Source Serif 4 Bold" pitchFamily="34" charset="-120"/>
              </a:rPr>
              <a:t>تعداد ماشین</a:t>
            </a:r>
            <a:endParaRPr lang="fa-IR" sz="1100" dirty="0"/>
          </a:p>
        </p:txBody>
      </p:sp>
      <p:sp>
        <p:nvSpPr>
          <p:cNvPr id="13" name="Shape 11"/>
          <p:cNvSpPr/>
          <p:nvPr/>
        </p:nvSpPr>
        <p:spPr>
          <a:xfrm>
            <a:off x="3757910" y="1703710"/>
            <a:ext cx="1139875" cy="408831"/>
          </a:xfrm>
          <a:prstGeom prst="rect">
            <a:avLst/>
          </a:prstGeom>
          <a:solidFill>
            <a:srgbClr val="3E2513"/>
          </a:solidFill>
          <a:ln/>
        </p:spPr>
      </p:sp>
      <p:sp>
        <p:nvSpPr>
          <p:cNvPr id="14" name="Text 12"/>
          <p:cNvSpPr/>
          <p:nvPr/>
        </p:nvSpPr>
        <p:spPr>
          <a:xfrm>
            <a:off x="3442469" y="1793528"/>
            <a:ext cx="1313557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 rtl="1">
              <a:lnSpc>
                <a:spcPct val="133000"/>
              </a:lnSpc>
              <a:buNone/>
            </a:pPr>
            <a:r>
              <a:rPr lang="ar-SA" altLang="en-US" sz="1100" b="1" dirty="0">
                <a:solidFill>
                  <a:srgbClr val="FFFFFF"/>
                </a:solidFill>
                <a:latin typeface="Source Serif 4 Bold" pitchFamily="34" charset="0"/>
                <a:ea typeface="Source Serif 4 Bold" pitchFamily="34" charset="-122"/>
                <a:cs typeface="Source Serif 4 Bold" pitchFamily="34" charset="-120"/>
              </a:rPr>
              <a:t>بافر</a:t>
            </a:r>
            <a:endParaRPr lang="ar-SA" sz="1100" dirty="0"/>
          </a:p>
        </p:txBody>
      </p:sp>
      <p:sp>
        <p:nvSpPr>
          <p:cNvPr id="15" name="Shape 13"/>
          <p:cNvSpPr/>
          <p:nvPr/>
        </p:nvSpPr>
        <p:spPr>
          <a:xfrm>
            <a:off x="4897785" y="1703710"/>
            <a:ext cx="1791221" cy="408831"/>
          </a:xfrm>
          <a:prstGeom prst="rect">
            <a:avLst/>
          </a:prstGeom>
          <a:solidFill>
            <a:srgbClr val="3E2513"/>
          </a:solidFill>
          <a:ln/>
        </p:spPr>
      </p:sp>
      <p:sp>
        <p:nvSpPr>
          <p:cNvPr id="16" name="Text 14"/>
          <p:cNvSpPr/>
          <p:nvPr/>
        </p:nvSpPr>
        <p:spPr>
          <a:xfrm>
            <a:off x="4582344" y="1793528"/>
            <a:ext cx="1964903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 rtl="1">
              <a:lnSpc>
                <a:spcPct val="133000"/>
              </a:lnSpc>
              <a:buNone/>
            </a:pPr>
            <a:r>
              <a:rPr lang="fa-IR" altLang="en-US" sz="1100" b="1" dirty="0">
                <a:solidFill>
                  <a:srgbClr val="FFFFFF"/>
                </a:solidFill>
                <a:latin typeface="Source Serif 4 Bold" pitchFamily="34" charset="0"/>
                <a:ea typeface="Source Serif 4 Bold" pitchFamily="34" charset="-122"/>
                <a:cs typeface="Source Serif 4 Bold" pitchFamily="34" charset="-120"/>
              </a:rPr>
              <a:t>صف‌بندی</a:t>
            </a:r>
            <a:endParaRPr lang="fa-IR" sz="1100" dirty="0"/>
          </a:p>
        </p:txBody>
      </p:sp>
      <p:sp>
        <p:nvSpPr>
          <p:cNvPr id="17" name="Shape 15"/>
          <p:cNvSpPr/>
          <p:nvPr/>
        </p:nvSpPr>
        <p:spPr>
          <a:xfrm>
            <a:off x="6689006" y="1703710"/>
            <a:ext cx="1954113" cy="408831"/>
          </a:xfrm>
          <a:prstGeom prst="rect">
            <a:avLst/>
          </a:prstGeom>
          <a:solidFill>
            <a:srgbClr val="3E2513"/>
          </a:solidFill>
          <a:ln/>
        </p:spPr>
      </p:sp>
      <p:sp>
        <p:nvSpPr>
          <p:cNvPr id="18" name="Text 16"/>
          <p:cNvSpPr/>
          <p:nvPr/>
        </p:nvSpPr>
        <p:spPr>
          <a:xfrm>
            <a:off x="6373564" y="1793528"/>
            <a:ext cx="2127796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 rtl="1">
              <a:lnSpc>
                <a:spcPct val="133000"/>
              </a:lnSpc>
              <a:buNone/>
            </a:pPr>
            <a:r>
              <a:rPr lang="fa-IR" altLang="en-US" sz="1100" b="1" dirty="0">
                <a:solidFill>
                  <a:srgbClr val="FFFFFF"/>
                </a:solidFill>
                <a:latin typeface="Source Serif 4 Bold" pitchFamily="34" charset="0"/>
                <a:ea typeface="Source Serif 4 Bold" pitchFamily="34" charset="-122"/>
                <a:cs typeface="Source Serif 4 Bold" pitchFamily="34" charset="-120"/>
              </a:rPr>
              <a:t>میانگین ورود (ساعت)</a:t>
            </a:r>
            <a:endParaRPr lang="fa-IR" sz="1100" dirty="0"/>
          </a:p>
        </p:txBody>
      </p:sp>
      <p:sp>
        <p:nvSpPr>
          <p:cNvPr id="19" name="Text 17"/>
          <p:cNvSpPr/>
          <p:nvPr/>
        </p:nvSpPr>
        <p:spPr>
          <a:xfrm>
            <a:off x="185663" y="2204740"/>
            <a:ext cx="1964903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 rtl="1">
              <a:lnSpc>
                <a:spcPct val="133000"/>
              </a:lnSpc>
              <a:buNone/>
            </a:pPr>
            <a:r>
              <a:rPr lang="fa-IR" altLang="en-US" sz="110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پایه (Base)</a:t>
            </a:r>
            <a:endParaRPr lang="fa-IR" sz="1100" dirty="0"/>
          </a:p>
        </p:txBody>
      </p:sp>
      <p:sp>
        <p:nvSpPr>
          <p:cNvPr id="20" name="Text 18"/>
          <p:cNvSpPr/>
          <p:nvPr/>
        </p:nvSpPr>
        <p:spPr>
          <a:xfrm>
            <a:off x="1976884" y="2204740"/>
            <a:ext cx="1639267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 rtl="1">
              <a:lnSpc>
                <a:spcPct val="133000"/>
              </a:lnSpc>
              <a:buNone/>
            </a:pPr>
            <a:r>
              <a:rPr lang="ar-SA" altLang="en-US" sz="110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۱۰</a:t>
            </a:r>
            <a:endParaRPr lang="ar-SA" sz="1100" dirty="0"/>
          </a:p>
        </p:txBody>
      </p:sp>
      <p:sp>
        <p:nvSpPr>
          <p:cNvPr id="21" name="Text 19"/>
          <p:cNvSpPr/>
          <p:nvPr/>
        </p:nvSpPr>
        <p:spPr>
          <a:xfrm>
            <a:off x="3442469" y="2204740"/>
            <a:ext cx="1313557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 rtl="1">
              <a:lnSpc>
                <a:spcPct val="133000"/>
              </a:lnSpc>
              <a:buNone/>
            </a:pPr>
            <a:r>
              <a:rPr lang="ar-SA" altLang="en-US" sz="110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۸</a:t>
            </a:r>
            <a:endParaRPr lang="ar-SA" sz="1100" dirty="0"/>
          </a:p>
        </p:txBody>
      </p:sp>
      <p:sp>
        <p:nvSpPr>
          <p:cNvPr id="22" name="Text 20"/>
          <p:cNvSpPr/>
          <p:nvPr/>
        </p:nvSpPr>
        <p:spPr>
          <a:xfrm>
            <a:off x="4582344" y="2204740"/>
            <a:ext cx="1964903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ct val="133000"/>
              </a:lnSpc>
              <a:buNone/>
            </a:pPr>
            <a:r>
              <a:rPr lang="en-US" sz="110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FIFO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6373564" y="2204740"/>
            <a:ext cx="2127796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 rtl="1">
              <a:lnSpc>
                <a:spcPct val="133000"/>
              </a:lnSpc>
              <a:buNone/>
            </a:pPr>
            <a:r>
              <a:rPr lang="ar-SA" altLang="en-US" sz="110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۰.۴۵</a:t>
            </a:r>
            <a:endParaRPr lang="ar-SA" sz="1100" dirty="0"/>
          </a:p>
        </p:txBody>
      </p:sp>
      <p:sp>
        <p:nvSpPr>
          <p:cNvPr id="24" name="Text 22"/>
          <p:cNvSpPr/>
          <p:nvPr/>
        </p:nvSpPr>
        <p:spPr>
          <a:xfrm>
            <a:off x="185663" y="2615952"/>
            <a:ext cx="1964903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 rtl="1">
              <a:lnSpc>
                <a:spcPct val="133000"/>
              </a:lnSpc>
              <a:buNone/>
            </a:pPr>
            <a:r>
              <a:rPr lang="fa-IR" altLang="en-US" sz="110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ظرفیت بیشتر</a:t>
            </a:r>
            <a:endParaRPr lang="fa-IR" sz="1100" dirty="0"/>
          </a:p>
        </p:txBody>
      </p:sp>
      <p:sp>
        <p:nvSpPr>
          <p:cNvPr id="25" name="Text 23"/>
          <p:cNvSpPr/>
          <p:nvPr/>
        </p:nvSpPr>
        <p:spPr>
          <a:xfrm>
            <a:off x="1976884" y="2615952"/>
            <a:ext cx="1639267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 rtl="1">
              <a:lnSpc>
                <a:spcPct val="133000"/>
              </a:lnSpc>
              <a:buNone/>
            </a:pPr>
            <a:r>
              <a:rPr lang="ar-SA" altLang="en-US" sz="110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۱۳</a:t>
            </a:r>
            <a:endParaRPr lang="ar-SA" sz="1100" dirty="0"/>
          </a:p>
        </p:txBody>
      </p:sp>
      <p:sp>
        <p:nvSpPr>
          <p:cNvPr id="26" name="Text 24"/>
          <p:cNvSpPr/>
          <p:nvPr/>
        </p:nvSpPr>
        <p:spPr>
          <a:xfrm>
            <a:off x="3442469" y="2615952"/>
            <a:ext cx="1313557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 rtl="1">
              <a:lnSpc>
                <a:spcPct val="133000"/>
              </a:lnSpc>
              <a:buNone/>
            </a:pPr>
            <a:r>
              <a:rPr lang="ar-SA" altLang="en-US" sz="110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۱۰</a:t>
            </a:r>
            <a:endParaRPr lang="ar-SA" sz="1100" dirty="0"/>
          </a:p>
        </p:txBody>
      </p:sp>
      <p:sp>
        <p:nvSpPr>
          <p:cNvPr id="27" name="Text 25"/>
          <p:cNvSpPr/>
          <p:nvPr/>
        </p:nvSpPr>
        <p:spPr>
          <a:xfrm>
            <a:off x="4582344" y="2615952"/>
            <a:ext cx="1964903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ct val="133000"/>
              </a:lnSpc>
              <a:buNone/>
            </a:pPr>
            <a:r>
              <a:rPr lang="en-US" sz="110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FIFO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6373564" y="2615952"/>
            <a:ext cx="2127796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 rtl="1">
              <a:lnSpc>
                <a:spcPct val="133000"/>
              </a:lnSpc>
              <a:buNone/>
            </a:pPr>
            <a:r>
              <a:rPr lang="ar-SA" altLang="en-US" sz="110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۰.۴۵</a:t>
            </a:r>
            <a:endParaRPr lang="ar-SA" sz="1100" dirty="0"/>
          </a:p>
        </p:txBody>
      </p:sp>
      <p:sp>
        <p:nvSpPr>
          <p:cNvPr id="29" name="Text 27"/>
          <p:cNvSpPr/>
          <p:nvPr/>
        </p:nvSpPr>
        <p:spPr>
          <a:xfrm>
            <a:off x="185663" y="3027164"/>
            <a:ext cx="1964903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 rtl="1">
              <a:lnSpc>
                <a:spcPct val="133000"/>
              </a:lnSpc>
              <a:buNone/>
            </a:pPr>
            <a:r>
              <a:rPr lang="fa-IR" altLang="en-US" sz="1050" dirty="0" smtClean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اولویت بندی (</a:t>
            </a:r>
            <a:r>
              <a:rPr lang="en-US" altLang="en-US" sz="1050" dirty="0" smtClean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Priority </a:t>
            </a:r>
            <a:r>
              <a:rPr lang="fa-IR" altLang="en-US" sz="1050" dirty="0" smtClean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Policy</a:t>
            </a:r>
            <a:r>
              <a:rPr lang="fa-IR" altLang="en-US" sz="105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)</a:t>
            </a:r>
            <a:endParaRPr lang="fa-IR" sz="1050" dirty="0"/>
          </a:p>
        </p:txBody>
      </p:sp>
      <p:sp>
        <p:nvSpPr>
          <p:cNvPr id="30" name="Text 28"/>
          <p:cNvSpPr/>
          <p:nvPr/>
        </p:nvSpPr>
        <p:spPr>
          <a:xfrm>
            <a:off x="1976884" y="3027164"/>
            <a:ext cx="1639267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 rtl="1">
              <a:lnSpc>
                <a:spcPct val="133000"/>
              </a:lnSpc>
              <a:buNone/>
            </a:pPr>
            <a:r>
              <a:rPr lang="ar-SA" altLang="en-US" sz="110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۱۰</a:t>
            </a:r>
            <a:endParaRPr lang="ar-SA" sz="1100" dirty="0"/>
          </a:p>
        </p:txBody>
      </p:sp>
      <p:sp>
        <p:nvSpPr>
          <p:cNvPr id="31" name="Text 29"/>
          <p:cNvSpPr/>
          <p:nvPr/>
        </p:nvSpPr>
        <p:spPr>
          <a:xfrm>
            <a:off x="3442469" y="3027164"/>
            <a:ext cx="1313557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 rtl="1">
              <a:lnSpc>
                <a:spcPct val="133000"/>
              </a:lnSpc>
              <a:buNone/>
            </a:pPr>
            <a:r>
              <a:rPr lang="ar-SA" altLang="en-US" sz="110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۸</a:t>
            </a:r>
            <a:endParaRPr lang="ar-SA" sz="1100" dirty="0"/>
          </a:p>
        </p:txBody>
      </p:sp>
      <p:sp>
        <p:nvSpPr>
          <p:cNvPr id="32" name="Text 30"/>
          <p:cNvSpPr/>
          <p:nvPr/>
        </p:nvSpPr>
        <p:spPr>
          <a:xfrm>
            <a:off x="4582344" y="3027164"/>
            <a:ext cx="1964903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 rtl="1">
              <a:lnSpc>
                <a:spcPct val="133000"/>
              </a:lnSpc>
              <a:buNone/>
            </a:pPr>
            <a:r>
              <a:rPr lang="fa-IR" altLang="en-US" sz="1100" dirty="0" smtClean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صف اولویت‌</a:t>
            </a:r>
            <a:endParaRPr lang="fa-IR" sz="1100" dirty="0"/>
          </a:p>
        </p:txBody>
      </p:sp>
      <p:sp>
        <p:nvSpPr>
          <p:cNvPr id="33" name="Text 31"/>
          <p:cNvSpPr/>
          <p:nvPr/>
        </p:nvSpPr>
        <p:spPr>
          <a:xfrm>
            <a:off x="6373564" y="3027164"/>
            <a:ext cx="2127796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 rtl="1">
              <a:lnSpc>
                <a:spcPct val="133000"/>
              </a:lnSpc>
              <a:buNone/>
            </a:pPr>
            <a:r>
              <a:rPr lang="ar-SA" altLang="en-US" sz="110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۰.۴۵</a:t>
            </a:r>
            <a:endParaRPr lang="ar-SA" sz="1100" dirty="0"/>
          </a:p>
        </p:txBody>
      </p:sp>
      <p:sp>
        <p:nvSpPr>
          <p:cNvPr id="34" name="Text 32"/>
          <p:cNvSpPr/>
          <p:nvPr/>
        </p:nvSpPr>
        <p:spPr>
          <a:xfrm>
            <a:off x="185663" y="3438376"/>
            <a:ext cx="1964903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 rtl="1">
              <a:lnSpc>
                <a:spcPct val="133000"/>
              </a:lnSpc>
              <a:buNone/>
            </a:pPr>
            <a:r>
              <a:rPr lang="fa-IR" altLang="en-US" sz="110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افزایش تقاضا</a:t>
            </a:r>
            <a:endParaRPr lang="fa-IR" sz="1100" dirty="0"/>
          </a:p>
        </p:txBody>
      </p:sp>
      <p:sp>
        <p:nvSpPr>
          <p:cNvPr id="35" name="Text 33"/>
          <p:cNvSpPr/>
          <p:nvPr/>
        </p:nvSpPr>
        <p:spPr>
          <a:xfrm>
            <a:off x="1976884" y="3438376"/>
            <a:ext cx="1639267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 rtl="1">
              <a:lnSpc>
                <a:spcPct val="133000"/>
              </a:lnSpc>
              <a:buNone/>
            </a:pPr>
            <a:r>
              <a:rPr lang="ar-SA" altLang="en-US" sz="110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۱۰</a:t>
            </a:r>
            <a:endParaRPr lang="ar-SA" sz="1100" dirty="0"/>
          </a:p>
        </p:txBody>
      </p:sp>
      <p:sp>
        <p:nvSpPr>
          <p:cNvPr id="36" name="Text 34"/>
          <p:cNvSpPr/>
          <p:nvPr/>
        </p:nvSpPr>
        <p:spPr>
          <a:xfrm>
            <a:off x="3442469" y="3438376"/>
            <a:ext cx="1313557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 rtl="1">
              <a:lnSpc>
                <a:spcPct val="133000"/>
              </a:lnSpc>
              <a:buNone/>
            </a:pPr>
            <a:r>
              <a:rPr lang="ar-SA" altLang="en-US" sz="110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۸</a:t>
            </a:r>
            <a:endParaRPr lang="ar-SA" sz="1100" dirty="0"/>
          </a:p>
        </p:txBody>
      </p:sp>
      <p:sp>
        <p:nvSpPr>
          <p:cNvPr id="37" name="Text 35"/>
          <p:cNvSpPr/>
          <p:nvPr/>
        </p:nvSpPr>
        <p:spPr>
          <a:xfrm>
            <a:off x="4582344" y="3438376"/>
            <a:ext cx="1964903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ct val="133000"/>
              </a:lnSpc>
              <a:buNone/>
            </a:pPr>
            <a:r>
              <a:rPr lang="en-US" sz="110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FIFO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6373564" y="3438376"/>
            <a:ext cx="2127796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 rtl="1">
              <a:lnSpc>
                <a:spcPct val="133000"/>
              </a:lnSpc>
              <a:buNone/>
            </a:pPr>
            <a:r>
              <a:rPr lang="ar-SA" altLang="en-US" sz="110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۰.۳۵</a:t>
            </a:r>
            <a:endParaRPr lang="ar-SA" sz="1100" dirty="0"/>
          </a:p>
        </p:txBody>
      </p:sp>
      <p:sp>
        <p:nvSpPr>
          <p:cNvPr id="39" name="Text 37"/>
          <p:cNvSpPr/>
          <p:nvPr/>
        </p:nvSpPr>
        <p:spPr>
          <a:xfrm>
            <a:off x="185663" y="3849588"/>
            <a:ext cx="1964903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 rtl="1">
              <a:lnSpc>
                <a:spcPct val="133000"/>
              </a:lnSpc>
              <a:buNone/>
            </a:pPr>
            <a:r>
              <a:rPr lang="fa-IR" altLang="en-US" sz="1100" dirty="0" smtClean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اولویت بندی </a:t>
            </a:r>
            <a:r>
              <a:rPr lang="fa-IR" altLang="en-US" sz="110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+ تقاضا</a:t>
            </a:r>
            <a:endParaRPr lang="fa-IR" sz="1100" dirty="0"/>
          </a:p>
        </p:txBody>
      </p:sp>
      <p:sp>
        <p:nvSpPr>
          <p:cNvPr id="40" name="Text 38"/>
          <p:cNvSpPr/>
          <p:nvPr/>
        </p:nvSpPr>
        <p:spPr>
          <a:xfrm>
            <a:off x="1976884" y="3849588"/>
            <a:ext cx="1639267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 rtl="1">
              <a:lnSpc>
                <a:spcPct val="133000"/>
              </a:lnSpc>
              <a:buNone/>
            </a:pPr>
            <a:r>
              <a:rPr lang="ar-SA" altLang="en-US" sz="110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۱۰</a:t>
            </a:r>
            <a:endParaRPr lang="ar-SA" sz="1100" dirty="0"/>
          </a:p>
        </p:txBody>
      </p:sp>
      <p:sp>
        <p:nvSpPr>
          <p:cNvPr id="41" name="Text 39"/>
          <p:cNvSpPr/>
          <p:nvPr/>
        </p:nvSpPr>
        <p:spPr>
          <a:xfrm>
            <a:off x="3442469" y="3849588"/>
            <a:ext cx="1313557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 rtl="1">
              <a:lnSpc>
                <a:spcPct val="133000"/>
              </a:lnSpc>
              <a:buNone/>
            </a:pPr>
            <a:r>
              <a:rPr lang="ar-SA" altLang="en-US" sz="110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۸</a:t>
            </a:r>
            <a:endParaRPr lang="ar-SA" sz="1100" dirty="0"/>
          </a:p>
        </p:txBody>
      </p:sp>
      <p:sp>
        <p:nvSpPr>
          <p:cNvPr id="42" name="Text 40"/>
          <p:cNvSpPr/>
          <p:nvPr/>
        </p:nvSpPr>
        <p:spPr>
          <a:xfrm>
            <a:off x="4582344" y="3849588"/>
            <a:ext cx="1964903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 rtl="1">
              <a:lnSpc>
                <a:spcPct val="133000"/>
              </a:lnSpc>
              <a:buNone/>
            </a:pPr>
            <a:r>
              <a:rPr lang="fa-IR" altLang="en-US" sz="1100" dirty="0" smtClean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صف اولویت</a:t>
            </a:r>
            <a:endParaRPr lang="fa-IR" sz="1100" dirty="0"/>
          </a:p>
        </p:txBody>
      </p:sp>
      <p:sp>
        <p:nvSpPr>
          <p:cNvPr id="43" name="Text 41"/>
          <p:cNvSpPr/>
          <p:nvPr/>
        </p:nvSpPr>
        <p:spPr>
          <a:xfrm>
            <a:off x="6373564" y="3849588"/>
            <a:ext cx="2127796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 rtl="1">
              <a:lnSpc>
                <a:spcPct val="133000"/>
              </a:lnSpc>
              <a:buNone/>
            </a:pPr>
            <a:r>
              <a:rPr lang="ar-SA" altLang="en-US" sz="110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۰.۳۵</a:t>
            </a:r>
            <a:endParaRPr lang="ar-SA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2095054"/>
            <a:ext cx="8151763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 rtl="1">
              <a:lnSpc>
                <a:spcPct val="104000"/>
              </a:lnSpc>
              <a:buNone/>
            </a:pPr>
            <a:r>
              <a:rPr lang="fa-IR" altLang="en-US" sz="2750" dirty="0">
                <a:solidFill>
                  <a:srgbClr val="201B18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شبیه سازی مصور</a:t>
            </a:r>
            <a:endParaRPr lang="fa-IR" sz="2750" dirty="0"/>
          </a:p>
        </p:txBody>
      </p:sp>
      <p:sp>
        <p:nvSpPr>
          <p:cNvPr id="3" name="Text 1"/>
          <p:cNvSpPr/>
          <p:nvPr/>
        </p:nvSpPr>
        <p:spPr>
          <a:xfrm>
            <a:off x="38919" y="2821558"/>
            <a:ext cx="8608963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 rtl="1">
              <a:lnSpc>
                <a:spcPct val="133000"/>
              </a:lnSpc>
              <a:buNone/>
            </a:pPr>
            <a:r>
              <a:rPr lang="fa-IR" altLang="en-US" sz="110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برای درک راحت تر شبیه سازی، فرایند ها را مصور سازی کرده ایم: </a:t>
            </a:r>
            <a:endParaRPr lang="fa-IR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1722090"/>
            <a:ext cx="8151763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 rtl="1">
              <a:lnSpc>
                <a:spcPct val="104000"/>
              </a:lnSpc>
              <a:buNone/>
            </a:pPr>
            <a:r>
              <a:rPr lang="fa-IR" altLang="en-US" sz="2750" dirty="0">
                <a:solidFill>
                  <a:srgbClr val="201B18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تحلیل یافته ها</a:t>
            </a:r>
            <a:endParaRPr lang="fa-IR" sz="2750" dirty="0"/>
          </a:p>
        </p:txBody>
      </p:sp>
      <p:sp>
        <p:nvSpPr>
          <p:cNvPr id="3" name="Shape 1"/>
          <p:cNvSpPr/>
          <p:nvPr/>
        </p:nvSpPr>
        <p:spPr>
          <a:xfrm>
            <a:off x="6025158" y="2377678"/>
            <a:ext cx="2622724" cy="1043657"/>
          </a:xfrm>
          <a:prstGeom prst="roundRect">
            <a:avLst>
              <a:gd name="adj" fmla="val 2038"/>
            </a:avLst>
          </a:prstGeom>
          <a:solidFill>
            <a:srgbClr val="F9F7F7"/>
          </a:solidFill>
          <a:ln/>
        </p:spPr>
      </p:sp>
      <p:sp>
        <p:nvSpPr>
          <p:cNvPr id="4" name="Text 2"/>
          <p:cNvSpPr/>
          <p:nvPr/>
        </p:nvSpPr>
        <p:spPr>
          <a:xfrm>
            <a:off x="6166917" y="2519437"/>
            <a:ext cx="2339206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 rtl="1">
              <a:lnSpc>
                <a:spcPct val="104000"/>
              </a:lnSpc>
              <a:buNone/>
            </a:pPr>
            <a:r>
              <a:rPr lang="fa-IR" altLang="en-US" sz="1350" dirty="0">
                <a:solidFill>
                  <a:srgbClr val="504C49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بهره‌ وری ماشین</a:t>
            </a:r>
            <a:endParaRPr lang="fa-IR" sz="1350" dirty="0"/>
          </a:p>
        </p:txBody>
      </p:sp>
      <p:sp>
        <p:nvSpPr>
          <p:cNvPr id="5" name="Text 3"/>
          <p:cNvSpPr/>
          <p:nvPr/>
        </p:nvSpPr>
        <p:spPr>
          <a:xfrm>
            <a:off x="6166917" y="2825948"/>
            <a:ext cx="2339206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 rtl="1">
              <a:lnSpc>
                <a:spcPct val="133000"/>
              </a:lnSpc>
              <a:buNone/>
            </a:pPr>
            <a:r>
              <a:rPr lang="fa-IR" altLang="en-US" sz="110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نوسان پایدار حول </a:t>
            </a:r>
            <a:r>
              <a:rPr lang="ar-SA" altLang="en-US" sz="1100" b="1" dirty="0">
                <a:solidFill>
                  <a:srgbClr val="504C49"/>
                </a:solidFill>
                <a:latin typeface="Source Serif 4 Bold" pitchFamily="34" charset="0"/>
                <a:ea typeface="Source Serif 4 Bold" pitchFamily="34" charset="-122"/>
                <a:cs typeface="Source Serif 4 Bold" pitchFamily="34" charset="-120"/>
              </a:rPr>
              <a:t>۶۰٪</a:t>
            </a:r>
            <a:r>
              <a:rPr lang="fa-IR" altLang="en-US" sz="110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 — ظرفیت کافی در حالت عادی</a:t>
            </a:r>
            <a:endParaRPr lang="fa-IR" sz="1100" dirty="0"/>
          </a:p>
        </p:txBody>
      </p:sp>
      <p:sp>
        <p:nvSpPr>
          <p:cNvPr id="6" name="Shape 4"/>
          <p:cNvSpPr/>
          <p:nvPr/>
        </p:nvSpPr>
        <p:spPr>
          <a:xfrm>
            <a:off x="3260675" y="2377678"/>
            <a:ext cx="2622724" cy="1043657"/>
          </a:xfrm>
          <a:prstGeom prst="roundRect">
            <a:avLst>
              <a:gd name="adj" fmla="val 2038"/>
            </a:avLst>
          </a:prstGeom>
          <a:solidFill>
            <a:srgbClr val="F9F7F7"/>
          </a:solidFill>
          <a:ln/>
        </p:spPr>
      </p:sp>
      <p:sp>
        <p:nvSpPr>
          <p:cNvPr id="7" name="Text 5"/>
          <p:cNvSpPr/>
          <p:nvPr/>
        </p:nvSpPr>
        <p:spPr>
          <a:xfrm>
            <a:off x="3402434" y="2519437"/>
            <a:ext cx="2339206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 rtl="1">
              <a:lnSpc>
                <a:spcPct val="104000"/>
              </a:lnSpc>
              <a:buNone/>
            </a:pPr>
            <a:r>
              <a:rPr lang="ar-SA" altLang="en-US" sz="1350" dirty="0">
                <a:solidFill>
                  <a:srgbClr val="504C49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طول صف بافر</a:t>
            </a:r>
            <a:endParaRPr lang="ar-SA" sz="1350" dirty="0"/>
          </a:p>
        </p:txBody>
      </p:sp>
      <p:sp>
        <p:nvSpPr>
          <p:cNvPr id="8" name="Text 6"/>
          <p:cNvSpPr/>
          <p:nvPr/>
        </p:nvSpPr>
        <p:spPr>
          <a:xfrm>
            <a:off x="3402434" y="2825948"/>
            <a:ext cx="2339206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 rtl="1">
              <a:lnSpc>
                <a:spcPct val="133000"/>
              </a:lnSpc>
              <a:buNone/>
            </a:pPr>
            <a:r>
              <a:rPr lang="fa-IR" altLang="en-US" sz="110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قله‌ های تیز نشان‌دهنده </a:t>
            </a:r>
            <a:r>
              <a:rPr lang="fa-IR" altLang="en-US" sz="1100" b="1" dirty="0">
                <a:solidFill>
                  <a:srgbClr val="504C49"/>
                </a:solidFill>
                <a:latin typeface="Source Serif 4 Bold" pitchFamily="34" charset="0"/>
                <a:ea typeface="Source Serif 4 Bold" pitchFamily="34" charset="-122"/>
                <a:cs typeface="Source Serif 4 Bold" pitchFamily="34" charset="-120"/>
              </a:rPr>
              <a:t>ازدحام لحظه‌ ای</a:t>
            </a:r>
            <a:r>
              <a:rPr lang="fa-IR" altLang="en-US" sz="110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 ناشی از نوسانات ورودی می باشند</a:t>
            </a:r>
            <a:endParaRPr lang="fa-IR" sz="1100" dirty="0"/>
          </a:p>
        </p:txBody>
      </p:sp>
      <p:sp>
        <p:nvSpPr>
          <p:cNvPr id="9" name="Shape 7"/>
          <p:cNvSpPr/>
          <p:nvPr/>
        </p:nvSpPr>
        <p:spPr>
          <a:xfrm>
            <a:off x="496193" y="2377678"/>
            <a:ext cx="2622724" cy="1043657"/>
          </a:xfrm>
          <a:prstGeom prst="roundRect">
            <a:avLst>
              <a:gd name="adj" fmla="val 2038"/>
            </a:avLst>
          </a:prstGeom>
          <a:solidFill>
            <a:srgbClr val="F9F7F7"/>
          </a:solidFill>
          <a:ln/>
        </p:spPr>
      </p:sp>
      <p:sp>
        <p:nvSpPr>
          <p:cNvPr id="10" name="Text 8"/>
          <p:cNvSpPr/>
          <p:nvPr/>
        </p:nvSpPr>
        <p:spPr>
          <a:xfrm>
            <a:off x="637952" y="2519437"/>
            <a:ext cx="2339206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 rtl="1">
              <a:lnSpc>
                <a:spcPct val="104000"/>
              </a:lnSpc>
              <a:buNone/>
            </a:pPr>
            <a:r>
              <a:rPr lang="fa-IR" altLang="en-US" sz="1350" dirty="0">
                <a:solidFill>
                  <a:srgbClr val="504C49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کنترل گره‌ های ترافیکی</a:t>
            </a:r>
            <a:endParaRPr lang="fa-IR" sz="1350" dirty="0"/>
          </a:p>
        </p:txBody>
      </p:sp>
      <p:sp>
        <p:nvSpPr>
          <p:cNvPr id="11" name="Text 9"/>
          <p:cNvSpPr/>
          <p:nvPr/>
        </p:nvSpPr>
        <p:spPr>
          <a:xfrm>
            <a:off x="637952" y="2825948"/>
            <a:ext cx="2339206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 rtl="1">
              <a:lnSpc>
                <a:spcPct val="133000"/>
              </a:lnSpc>
              <a:buNone/>
            </a:pPr>
            <a:r>
              <a:rPr lang="fa-IR" altLang="en-US" sz="110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گره‌ ها موقت هستند و با </a:t>
            </a:r>
            <a:r>
              <a:rPr lang="fa-IR" altLang="en-US" sz="1100" b="1" dirty="0">
                <a:solidFill>
                  <a:srgbClr val="504C49"/>
                </a:solidFill>
                <a:latin typeface="Source Serif 4 Bold" pitchFamily="34" charset="0"/>
                <a:ea typeface="Source Serif 4 Bold" pitchFamily="34" charset="-122"/>
                <a:cs typeface="Source Serif 4 Bold" pitchFamily="34" charset="-120"/>
              </a:rPr>
              <a:t>سیاست صف‌ بندی مناسب</a:t>
            </a:r>
            <a:r>
              <a:rPr lang="fa-IR" altLang="en-US" sz="110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 قابل کنترل‌ اند</a:t>
            </a:r>
            <a:endParaRPr lang="fa-IR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679772"/>
            <a:ext cx="8151763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 rtl="1">
              <a:lnSpc>
                <a:spcPct val="104000"/>
              </a:lnSpc>
              <a:buNone/>
            </a:pPr>
            <a:r>
              <a:rPr lang="fa-IR" altLang="en-US" sz="2750" dirty="0">
                <a:solidFill>
                  <a:srgbClr val="201B18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یافته کلیدی — نرخ رد بر اساس اولویت</a:t>
            </a:r>
            <a:endParaRPr lang="fa-IR" sz="275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6119" y="1494830"/>
            <a:ext cx="3902943" cy="280935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749701" y="1477119"/>
            <a:ext cx="3902943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 rtl="1">
              <a:lnSpc>
                <a:spcPct val="104000"/>
              </a:lnSpc>
              <a:buNone/>
            </a:pPr>
            <a:r>
              <a:rPr lang="fa-IR" altLang="en-US" sz="1350" dirty="0">
                <a:solidFill>
                  <a:srgbClr val="201B18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تحلیل نتایج</a:t>
            </a:r>
            <a:endParaRPr lang="fa-IR" sz="1350" dirty="0"/>
          </a:p>
        </p:txBody>
      </p:sp>
      <p:sp>
        <p:nvSpPr>
          <p:cNvPr id="5" name="Text 2"/>
          <p:cNvSpPr/>
          <p:nvPr/>
        </p:nvSpPr>
        <p:spPr>
          <a:xfrm>
            <a:off x="4749701" y="1840334"/>
            <a:ext cx="3902943" cy="14600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223520" indent="-223520" algn="r" rtl="1">
              <a:lnSpc>
                <a:spcPct val="133000"/>
              </a:lnSpc>
              <a:buSzPct val="100000"/>
              <a:buChar char="•"/>
            </a:pPr>
            <a:r>
              <a:rPr lang="fa-IR" altLang="en-US" sz="1100" b="1" dirty="0">
                <a:solidFill>
                  <a:srgbClr val="504C49"/>
                </a:solidFill>
                <a:latin typeface="Source Serif 4 Bold" pitchFamily="34" charset="0"/>
                <a:ea typeface="Source Serif 4 Bold" pitchFamily="34" charset="-122"/>
                <a:cs typeface="Source Serif 4 Bold" pitchFamily="34" charset="-120"/>
              </a:rPr>
              <a:t>افزایش تقاضا + FIFO:</a:t>
            </a:r>
            <a:r>
              <a:rPr lang="fa-IR" altLang="en-US" sz="110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 کار های بحرانی (قرمز) بیشترین نرخ رد را دارند</a:t>
            </a:r>
            <a:endParaRPr lang="fa-IR" sz="1100" dirty="0"/>
          </a:p>
          <a:p>
            <a:pPr marL="223520" indent="-223520" algn="r" rtl="1">
              <a:lnSpc>
                <a:spcPct val="133000"/>
              </a:lnSpc>
              <a:buSzPct val="100000"/>
              <a:buChar char="•"/>
            </a:pPr>
            <a:r>
              <a:rPr lang="fa-IR" altLang="en-US" sz="1100" b="1" dirty="0">
                <a:solidFill>
                  <a:srgbClr val="504C49"/>
                </a:solidFill>
                <a:latin typeface="Source Serif 4 Bold" pitchFamily="34" charset="0"/>
                <a:ea typeface="Source Serif 4 Bold" pitchFamily="34" charset="-122"/>
                <a:cs typeface="Source Serif 4 Bold" pitchFamily="34" charset="-120"/>
              </a:rPr>
              <a:t>اولویت + افزایش تقاضا:</a:t>
            </a:r>
            <a:r>
              <a:rPr lang="fa-IR" altLang="en-US" sz="110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 نرخ رد کار های بحرانی به شدت کاهش می‌ یابد </a:t>
            </a:r>
            <a:endParaRPr lang="fa-IR" sz="1100" dirty="0"/>
          </a:p>
          <a:p>
            <a:pPr marL="223520" indent="-223520" algn="r" rtl="1">
              <a:lnSpc>
                <a:spcPct val="133000"/>
              </a:lnSpc>
              <a:buSzPct val="100000"/>
              <a:buChar char="•"/>
            </a:pPr>
            <a:r>
              <a:rPr lang="fa-IR" altLang="en-US" sz="110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سیاست اولویت‌ بندی </a:t>
            </a:r>
            <a:r>
              <a:rPr lang="fa-IR" altLang="en-US" sz="1100" b="1" dirty="0">
                <a:solidFill>
                  <a:srgbClr val="504C49"/>
                </a:solidFill>
                <a:latin typeface="Source Serif 4 Bold" pitchFamily="34" charset="0"/>
                <a:ea typeface="Source Serif 4 Bold" pitchFamily="34" charset="-122"/>
                <a:cs typeface="Source Serif 4 Bold" pitchFamily="34" charset="-120"/>
              </a:rPr>
              <a:t>بدون افزایش ظرفیت</a:t>
            </a:r>
            <a:r>
              <a:rPr lang="fa-IR" altLang="en-US" sz="110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، کارهای حیاتی را نجات می‌ دهد</a:t>
            </a:r>
            <a:endParaRPr lang="fa-IR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1868239"/>
            <a:ext cx="8151763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 rtl="1">
              <a:lnSpc>
                <a:spcPct val="104000"/>
              </a:lnSpc>
              <a:buNone/>
            </a:pPr>
            <a:r>
              <a:rPr lang="fa-IR" altLang="en-US" sz="2750" dirty="0">
                <a:solidFill>
                  <a:srgbClr val="201B18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نتیجه‌ گیری نهایی</a:t>
            </a:r>
            <a:endParaRPr lang="fa-IR" sz="2750" dirty="0"/>
          </a:p>
        </p:txBody>
      </p:sp>
      <p:sp>
        <p:nvSpPr>
          <p:cNvPr id="3" name="Text 1"/>
          <p:cNvSpPr/>
          <p:nvPr/>
        </p:nvSpPr>
        <p:spPr>
          <a:xfrm>
            <a:off x="496119" y="2594744"/>
            <a:ext cx="8151763" cy="68044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 rtl="1">
              <a:lnSpc>
                <a:spcPct val="133000"/>
              </a:lnSpc>
              <a:buNone/>
            </a:pPr>
            <a:r>
              <a:rPr lang="fa-IR" altLang="en-US" sz="110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در حالت کلی، سیاست "صف اولویت بندی" بهترین عملکرد را دارد. </a:t>
            </a:r>
            <a:endParaRPr lang="fa-IR" sz="1100" dirty="0"/>
          </a:p>
          <a:p>
            <a:pPr marL="0" indent="0" algn="r" rtl="1">
              <a:lnSpc>
                <a:spcPct val="133000"/>
              </a:lnSpc>
              <a:buNone/>
            </a:pPr>
            <a:r>
              <a:rPr lang="fa-IR" altLang="en-US" sz="110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این سیاست در زمان بار عادی تاثیر منفی بر میانگین زمان انتظار ندارد، اما هنگام افزایش تقاضا، باعث می شود کار های حیاتی در اولویت قرار داده شوند. </a:t>
            </a:r>
            <a:endParaRPr lang="fa-IR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8" y="2146114"/>
            <a:ext cx="8151763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 rtl="1">
              <a:lnSpc>
                <a:spcPct val="104000"/>
              </a:lnSpc>
              <a:buNone/>
            </a:pPr>
            <a:r>
              <a:rPr lang="fa-IR" altLang="en-US" sz="2750" dirty="0">
                <a:solidFill>
                  <a:srgbClr val="201B18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با تشکر از توجه شما</a:t>
            </a:r>
            <a:endParaRPr lang="fa-IR" sz="2750" dirty="0"/>
          </a:p>
        </p:txBody>
      </p:sp>
      <p:sp>
        <p:nvSpPr>
          <p:cNvPr id="4" name="Text 2"/>
          <p:cNvSpPr/>
          <p:nvPr/>
        </p:nvSpPr>
        <p:spPr>
          <a:xfrm>
            <a:off x="267519" y="2715013"/>
            <a:ext cx="8608963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 rtl="1">
              <a:lnSpc>
                <a:spcPct val="133000"/>
              </a:lnSpc>
              <a:buNone/>
            </a:pPr>
            <a:r>
              <a:rPr lang="fa-IR" altLang="en-US" sz="110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کسری فولادی | امید طالب ‌پور — بهار ۱۴۰۵</a:t>
            </a:r>
            <a:endParaRPr lang="fa-IR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xmlns="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29</TotalTime>
  <Words>465</Words>
  <Application>Microsoft Office PowerPoint</Application>
  <PresentationFormat>On-screen Show (16:9)</PresentationFormat>
  <Paragraphs>86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7" baseType="lpstr">
      <vt:lpstr>Arial</vt:lpstr>
      <vt:lpstr>Source Serif 4 Bold</vt:lpstr>
      <vt:lpstr>Platypi Medium</vt:lpstr>
      <vt:lpstr>Source Serif 4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Lenovo</dc:creator>
  <cp:lastModifiedBy>Lenovo</cp:lastModifiedBy>
  <cp:revision>37</cp:revision>
  <dcterms:created xsi:type="dcterms:W3CDTF">2026-07-16T21:31:03Z</dcterms:created>
  <dcterms:modified xsi:type="dcterms:W3CDTF">2026-07-17T17:29:57Z</dcterms:modified>
</cp:coreProperties>
</file>