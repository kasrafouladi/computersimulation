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Platypi Medium" panose="020B0604020202020204" charset="0"/>
      <p:regular r:id="rId13"/>
    </p:embeddedFont>
    <p:embeddedFont>
      <p:font typeface="Source Serif 4" panose="020B060402020202020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Source Serif 4 Bold" panose="020B0604020202020204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8" d="100"/>
          <a:sy n="88" d="100"/>
        </p:scale>
        <p:origin x="-1282" y="-5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1E0C6-51FF-4416-A043-466C3177F931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AF39F6-FA29-4336-906B-92816CCB57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61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-4-2.svg"/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-4-2.svg"/><Relationship Id="rId5" Type="http://schemas.openxmlformats.org/officeDocument/2006/relationships/image" Target="../media/image-4-2.svg"/><Relationship Id="rId4" Type="http://schemas.openxmlformats.org/officeDocument/2006/relationships/image" Target="../media/image-4-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909018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شبیه‌ سازی کارگاه تولیدی (Job-Shop) با ماشین‌های CNC</a:t>
            </a:r>
            <a:endParaRPr lang="fa-IR" sz="2750" dirty="0"/>
          </a:p>
        </p:txBody>
      </p:sp>
      <p:sp>
        <p:nvSpPr>
          <p:cNvPr id="3" name="Text 1"/>
          <p:cNvSpPr/>
          <p:nvPr/>
        </p:nvSpPr>
        <p:spPr>
          <a:xfrm>
            <a:off x="38919" y="3007593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درس: شبیه‌ سازی کامپیوتری | ارائه‌ دهندگان: کسری فولادی، امید طالب‌ پور | بهار ۱۴۰۵</a:t>
            </a:r>
            <a:endParaRPr lang="fa-I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695673"/>
            <a:ext cx="2628230" cy="17521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74988" y="1822252"/>
            <a:ext cx="517758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دستگاه CNC چیست؟</a:t>
            </a:r>
            <a:endParaRPr lang="fa-IR" sz="2750" dirty="0"/>
          </a:p>
        </p:txBody>
      </p:sp>
      <p:sp>
        <p:nvSpPr>
          <p:cNvPr id="4" name="Text 1"/>
          <p:cNvSpPr/>
          <p:nvPr/>
        </p:nvSpPr>
        <p:spPr>
          <a:xfrm>
            <a:off x="3474988" y="2406997"/>
            <a:ext cx="5177582" cy="1006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r" rtl="1">
              <a:lnSpc>
                <a:spcPct val="133000"/>
              </a:lnSpc>
              <a:buSzPct val="100000"/>
              <a:buChar char="•"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مخفف کنترل عددی کامپیوتری (Computer Numerical Control)</a:t>
            </a:r>
            <a:endParaRPr lang="fa-IR" sz="1100" dirty="0"/>
          </a:p>
          <a:p>
            <a:pPr marL="223520" indent="-223520" algn="r" rtl="1">
              <a:lnSpc>
                <a:spcPct val="133000"/>
              </a:lnSpc>
              <a:buSzPct val="100000"/>
              <a:buChar char="•"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تراشیدن قطعه از دل یک بلوک خام فلزی یا پلاستیکی با دقت میکروسکوپی از طریق اجرای G-code</a:t>
            </a:r>
            <a:endParaRPr lang="fa-IR" sz="1100" dirty="0"/>
          </a:p>
          <a:p>
            <a:pPr marL="223520" indent="-223520" algn="r" rtl="1">
              <a:lnSpc>
                <a:spcPct val="133000"/>
              </a:lnSpc>
              <a:buSzPct val="100000"/>
              <a:buChar char="•"/>
            </a:pP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در این پروژه: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۱۰ دستگاه CNC یکسان به عنوان منبع محدود اصلی سیستم</a:t>
            </a:r>
            <a:endParaRPr lang="fa-IR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5883"/>
            <a:ext cx="8151763" cy="373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3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گردش کار کارخانه — نمای کلی مدل</a:t>
            </a:r>
            <a:endParaRPr lang="fa-IR" sz="2350" dirty="0"/>
          </a:p>
        </p:txBody>
      </p:sp>
      <p:sp>
        <p:nvSpPr>
          <p:cNvPr id="4" name="Text 1"/>
          <p:cNvSpPr/>
          <p:nvPr/>
        </p:nvSpPr>
        <p:spPr>
          <a:xfrm>
            <a:off x="6236110" y="3796581"/>
            <a:ext cx="1834101" cy="229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40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ماشین‌های CNC</a:t>
            </a:r>
            <a:endParaRPr lang="fa-IR" sz="1400" dirty="0"/>
          </a:p>
        </p:txBody>
      </p:sp>
      <p:sp>
        <p:nvSpPr>
          <p:cNvPr id="5" name="Text 2"/>
          <p:cNvSpPr/>
          <p:nvPr/>
        </p:nvSpPr>
        <p:spPr>
          <a:xfrm>
            <a:off x="6236110" y="2989577"/>
            <a:ext cx="1834101" cy="229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ar-SA" altLang="en-US" sz="140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صف/بافر</a:t>
            </a:r>
            <a:endParaRPr lang="ar-SA" sz="1400" dirty="0"/>
          </a:p>
        </p:txBody>
      </p:sp>
      <p:sp>
        <p:nvSpPr>
          <p:cNvPr id="6" name="Text 3"/>
          <p:cNvSpPr/>
          <p:nvPr/>
        </p:nvSpPr>
        <p:spPr>
          <a:xfrm>
            <a:off x="6236110" y="2190724"/>
            <a:ext cx="1834101" cy="229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40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بازرسی</a:t>
            </a:r>
            <a:endParaRPr lang="fa-IR" sz="1400" dirty="0"/>
          </a:p>
        </p:txBody>
      </p:sp>
      <p:sp>
        <p:nvSpPr>
          <p:cNvPr id="7" name="Text 4"/>
          <p:cNvSpPr/>
          <p:nvPr/>
        </p:nvSpPr>
        <p:spPr>
          <a:xfrm>
            <a:off x="6236110" y="1383719"/>
            <a:ext cx="1834101" cy="229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ar-SA" altLang="en-US" sz="140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ورود</a:t>
            </a:r>
            <a:endParaRPr lang="ar-SA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282675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توزیع‌ های آماری مورد </a:t>
            </a:r>
            <a:r>
              <a:rPr lang="fa-IR" altLang="en-US" sz="2750" dirty="0" smtClean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استفاده</a:t>
            </a:r>
            <a:r>
              <a:rPr lang="en-US" altLang="en-US" sz="2750" dirty="0" smtClean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</a:t>
            </a:r>
            <a:r>
              <a:rPr lang="fa-IR" altLang="en-US" sz="2750" dirty="0" smtClean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 در مدل سازی</a:t>
            </a:r>
            <a:endParaRPr lang="fa-IR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642917" y="2009180"/>
            <a:ext cx="4004965" cy="85494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803725" y="2169988"/>
            <a:ext cx="36071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زمان بین ورودها</a:t>
            </a:r>
            <a:endParaRPr lang="fa-IR" sz="1350" dirty="0"/>
          </a:p>
        </p:txBody>
      </p:sp>
      <p:sp>
        <p:nvSpPr>
          <p:cNvPr id="5" name="Text 2"/>
          <p:cNvSpPr/>
          <p:nvPr/>
        </p:nvSpPr>
        <p:spPr>
          <a:xfrm>
            <a:off x="4803725" y="2476500"/>
            <a:ext cx="36071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نمایی (Exponential)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شوک‌ های تصادفی با نرخ ثابت ورود</a:t>
            </a:r>
            <a:endParaRPr lang="fa-IR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6119" y="2009180"/>
            <a:ext cx="4005039" cy="8549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6927" y="2169988"/>
            <a:ext cx="3607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زمان پردازش</a:t>
            </a:r>
            <a:endParaRPr lang="fa-IR" sz="1350" dirty="0"/>
          </a:p>
        </p:txBody>
      </p:sp>
      <p:sp>
        <p:nvSpPr>
          <p:cNvPr id="8" name="Text 4"/>
          <p:cNvSpPr/>
          <p:nvPr/>
        </p:nvSpPr>
        <p:spPr>
          <a:xfrm>
            <a:off x="656927" y="2476500"/>
            <a:ext cx="360722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لگ‌ نرمال (Log-normal)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کارهای طولانی نادر</a:t>
            </a:r>
            <a:endParaRPr lang="fa-IR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642917" y="3005882"/>
            <a:ext cx="4004965" cy="8549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803725" y="3166690"/>
            <a:ext cx="36071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ریسک کیفیت</a:t>
            </a:r>
            <a:endParaRPr lang="fa-IR" sz="1350" dirty="0"/>
          </a:p>
        </p:txBody>
      </p:sp>
      <p:sp>
        <p:nvSpPr>
          <p:cNvPr id="11" name="Text 6"/>
          <p:cNvSpPr/>
          <p:nvPr/>
        </p:nvSpPr>
        <p:spPr>
          <a:xfrm>
            <a:off x="4803725" y="3473202"/>
            <a:ext cx="360714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بتا (۲،۲)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ریسک‌های متوسط محتمل‌ تر از ریسک‌های افراطی</a:t>
            </a:r>
            <a:endParaRPr lang="fa-IR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496119" y="3005882"/>
            <a:ext cx="4005039" cy="8549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56927" y="3166690"/>
            <a:ext cx="3607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زمان تا خرابی و صبر مشتری</a:t>
            </a:r>
            <a:endParaRPr lang="fa-IR" sz="1350" dirty="0"/>
          </a:p>
        </p:txBody>
      </p:sp>
      <p:sp>
        <p:nvSpPr>
          <p:cNvPr id="14" name="Text 8"/>
          <p:cNvSpPr/>
          <p:nvPr/>
        </p:nvSpPr>
        <p:spPr>
          <a:xfrm>
            <a:off x="656927" y="3473202"/>
            <a:ext cx="360722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نمایی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نرخ ثابت خرابی و ترک تصادفی صف توسط مشتریان</a:t>
            </a:r>
            <a:endParaRPr lang="fa-IR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972443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سناریوهای آزمایش‌شده</a:t>
            </a:r>
            <a:endParaRPr lang="fa-IR" sz="2750" dirty="0"/>
          </a:p>
        </p:txBody>
      </p:sp>
      <p:sp>
        <p:nvSpPr>
          <p:cNvPr id="3" name="Shape 1"/>
          <p:cNvSpPr/>
          <p:nvPr/>
        </p:nvSpPr>
        <p:spPr>
          <a:xfrm>
            <a:off x="496119" y="1698947"/>
            <a:ext cx="8151763" cy="2472035"/>
          </a:xfrm>
          <a:prstGeom prst="roundRect">
            <a:avLst>
              <a:gd name="adj" fmla="val 860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6119" y="2112541"/>
            <a:ext cx="8151763" cy="886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96119" y="2523753"/>
            <a:ext cx="8151763" cy="886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96119" y="2934965"/>
            <a:ext cx="8151763" cy="886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96119" y="3346177"/>
            <a:ext cx="8151763" cy="886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496119" y="3757389"/>
            <a:ext cx="8151763" cy="886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1104" y="1703710"/>
            <a:ext cx="1791221" cy="408831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0" name="Text 8"/>
          <p:cNvSpPr/>
          <p:nvPr/>
        </p:nvSpPr>
        <p:spPr>
          <a:xfrm>
            <a:off x="185663" y="1793528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b="1" dirty="0">
                <a:solidFill>
                  <a:srgbClr val="FFFFFF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سناریو</a:t>
            </a:r>
            <a:endParaRPr lang="fa-IR" sz="1100" dirty="0"/>
          </a:p>
        </p:txBody>
      </p:sp>
      <p:sp>
        <p:nvSpPr>
          <p:cNvPr id="11" name="Shape 9"/>
          <p:cNvSpPr/>
          <p:nvPr/>
        </p:nvSpPr>
        <p:spPr>
          <a:xfrm>
            <a:off x="2292325" y="1703710"/>
            <a:ext cx="1465585" cy="408831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2" name="Text 10"/>
          <p:cNvSpPr/>
          <p:nvPr/>
        </p:nvSpPr>
        <p:spPr>
          <a:xfrm>
            <a:off x="1976884" y="1793528"/>
            <a:ext cx="16392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b="1" dirty="0">
                <a:solidFill>
                  <a:srgbClr val="FFFFFF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تعداد ماشین</a:t>
            </a:r>
            <a:endParaRPr lang="fa-IR" sz="1100" dirty="0"/>
          </a:p>
        </p:txBody>
      </p:sp>
      <p:sp>
        <p:nvSpPr>
          <p:cNvPr id="13" name="Shape 11"/>
          <p:cNvSpPr/>
          <p:nvPr/>
        </p:nvSpPr>
        <p:spPr>
          <a:xfrm>
            <a:off x="3757910" y="1703710"/>
            <a:ext cx="1139875" cy="408831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4" name="Text 12"/>
          <p:cNvSpPr/>
          <p:nvPr/>
        </p:nvSpPr>
        <p:spPr>
          <a:xfrm>
            <a:off x="3442469" y="1793528"/>
            <a:ext cx="131355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بافر</a:t>
            </a:r>
            <a:endParaRPr lang="ar-SA" sz="1100" dirty="0"/>
          </a:p>
        </p:txBody>
      </p:sp>
      <p:sp>
        <p:nvSpPr>
          <p:cNvPr id="15" name="Shape 13"/>
          <p:cNvSpPr/>
          <p:nvPr/>
        </p:nvSpPr>
        <p:spPr>
          <a:xfrm>
            <a:off x="4897785" y="1703710"/>
            <a:ext cx="1791221" cy="408831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6" name="Text 14"/>
          <p:cNvSpPr/>
          <p:nvPr/>
        </p:nvSpPr>
        <p:spPr>
          <a:xfrm>
            <a:off x="4582344" y="1793528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b="1" dirty="0">
                <a:solidFill>
                  <a:srgbClr val="FFFFFF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صف‌بندی</a:t>
            </a:r>
            <a:endParaRPr lang="fa-IR" sz="1100" dirty="0"/>
          </a:p>
        </p:txBody>
      </p:sp>
      <p:sp>
        <p:nvSpPr>
          <p:cNvPr id="17" name="Shape 15"/>
          <p:cNvSpPr/>
          <p:nvPr/>
        </p:nvSpPr>
        <p:spPr>
          <a:xfrm>
            <a:off x="6689006" y="1703710"/>
            <a:ext cx="1954113" cy="408831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8" name="Text 16"/>
          <p:cNvSpPr/>
          <p:nvPr/>
        </p:nvSpPr>
        <p:spPr>
          <a:xfrm>
            <a:off x="6373564" y="1793528"/>
            <a:ext cx="212779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b="1" dirty="0">
                <a:solidFill>
                  <a:srgbClr val="FFFFFF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میانگین ورود (ساعت)</a:t>
            </a:r>
            <a:endParaRPr lang="fa-IR" sz="1100" dirty="0"/>
          </a:p>
        </p:txBody>
      </p:sp>
      <p:sp>
        <p:nvSpPr>
          <p:cNvPr id="19" name="Text 17"/>
          <p:cNvSpPr/>
          <p:nvPr/>
        </p:nvSpPr>
        <p:spPr>
          <a:xfrm>
            <a:off x="185663" y="2204740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پایه (Base)</a:t>
            </a:r>
            <a:endParaRPr lang="fa-IR" sz="1100" dirty="0"/>
          </a:p>
        </p:txBody>
      </p:sp>
      <p:sp>
        <p:nvSpPr>
          <p:cNvPr id="20" name="Text 18"/>
          <p:cNvSpPr/>
          <p:nvPr/>
        </p:nvSpPr>
        <p:spPr>
          <a:xfrm>
            <a:off x="1976884" y="2204740"/>
            <a:ext cx="16392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۱۰</a:t>
            </a:r>
            <a:endParaRPr lang="ar-SA" sz="1100" dirty="0"/>
          </a:p>
        </p:txBody>
      </p:sp>
      <p:sp>
        <p:nvSpPr>
          <p:cNvPr id="21" name="Text 19"/>
          <p:cNvSpPr/>
          <p:nvPr/>
        </p:nvSpPr>
        <p:spPr>
          <a:xfrm>
            <a:off x="3442469" y="2204740"/>
            <a:ext cx="131355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۸</a:t>
            </a:r>
            <a:endParaRPr lang="ar-SA" sz="1100" dirty="0"/>
          </a:p>
        </p:txBody>
      </p:sp>
      <p:sp>
        <p:nvSpPr>
          <p:cNvPr id="22" name="Text 20"/>
          <p:cNvSpPr/>
          <p:nvPr/>
        </p:nvSpPr>
        <p:spPr>
          <a:xfrm>
            <a:off x="4582344" y="2204740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33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FIFO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564" y="2204740"/>
            <a:ext cx="212779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۰.۴۵</a:t>
            </a:r>
            <a:endParaRPr lang="ar-SA" sz="1100" dirty="0"/>
          </a:p>
        </p:txBody>
      </p:sp>
      <p:sp>
        <p:nvSpPr>
          <p:cNvPr id="24" name="Text 22"/>
          <p:cNvSpPr/>
          <p:nvPr/>
        </p:nvSpPr>
        <p:spPr>
          <a:xfrm>
            <a:off x="185663" y="2615952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ظرفیت بیشتر</a:t>
            </a:r>
            <a:endParaRPr lang="fa-IR" sz="1100" dirty="0"/>
          </a:p>
        </p:txBody>
      </p:sp>
      <p:sp>
        <p:nvSpPr>
          <p:cNvPr id="25" name="Text 23"/>
          <p:cNvSpPr/>
          <p:nvPr/>
        </p:nvSpPr>
        <p:spPr>
          <a:xfrm>
            <a:off x="1976884" y="2615952"/>
            <a:ext cx="16392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۱۳</a:t>
            </a:r>
            <a:endParaRPr lang="ar-SA" sz="1100" dirty="0"/>
          </a:p>
        </p:txBody>
      </p:sp>
      <p:sp>
        <p:nvSpPr>
          <p:cNvPr id="26" name="Text 24"/>
          <p:cNvSpPr/>
          <p:nvPr/>
        </p:nvSpPr>
        <p:spPr>
          <a:xfrm>
            <a:off x="3442469" y="2615952"/>
            <a:ext cx="131355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۱۰</a:t>
            </a:r>
            <a:endParaRPr lang="ar-SA" sz="1100" dirty="0"/>
          </a:p>
        </p:txBody>
      </p:sp>
      <p:sp>
        <p:nvSpPr>
          <p:cNvPr id="27" name="Text 25"/>
          <p:cNvSpPr/>
          <p:nvPr/>
        </p:nvSpPr>
        <p:spPr>
          <a:xfrm>
            <a:off x="4582344" y="2615952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33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FIFO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3564" y="2615952"/>
            <a:ext cx="212779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۰.۴۵</a:t>
            </a:r>
            <a:endParaRPr lang="ar-SA" sz="1100" dirty="0"/>
          </a:p>
        </p:txBody>
      </p:sp>
      <p:sp>
        <p:nvSpPr>
          <p:cNvPr id="29" name="Text 27"/>
          <p:cNvSpPr/>
          <p:nvPr/>
        </p:nvSpPr>
        <p:spPr>
          <a:xfrm>
            <a:off x="185663" y="3027164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اولویت (Policy)</a:t>
            </a:r>
            <a:endParaRPr lang="fa-IR" sz="1100" dirty="0"/>
          </a:p>
        </p:txBody>
      </p:sp>
      <p:sp>
        <p:nvSpPr>
          <p:cNvPr id="30" name="Text 28"/>
          <p:cNvSpPr/>
          <p:nvPr/>
        </p:nvSpPr>
        <p:spPr>
          <a:xfrm>
            <a:off x="1976884" y="3027164"/>
            <a:ext cx="16392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۱۰</a:t>
            </a:r>
            <a:endParaRPr lang="ar-SA" sz="1100" dirty="0"/>
          </a:p>
        </p:txBody>
      </p:sp>
      <p:sp>
        <p:nvSpPr>
          <p:cNvPr id="31" name="Text 29"/>
          <p:cNvSpPr/>
          <p:nvPr/>
        </p:nvSpPr>
        <p:spPr>
          <a:xfrm>
            <a:off x="3442469" y="3027164"/>
            <a:ext cx="131355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۸</a:t>
            </a:r>
            <a:endParaRPr lang="ar-SA" sz="1100" dirty="0"/>
          </a:p>
        </p:txBody>
      </p:sp>
      <p:sp>
        <p:nvSpPr>
          <p:cNvPr id="32" name="Text 30"/>
          <p:cNvSpPr/>
          <p:nvPr/>
        </p:nvSpPr>
        <p:spPr>
          <a:xfrm>
            <a:off x="4582344" y="3027164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اولویت‌بندی</a:t>
            </a:r>
            <a:endParaRPr lang="fa-IR" sz="1100" dirty="0"/>
          </a:p>
        </p:txBody>
      </p:sp>
      <p:sp>
        <p:nvSpPr>
          <p:cNvPr id="33" name="Text 31"/>
          <p:cNvSpPr/>
          <p:nvPr/>
        </p:nvSpPr>
        <p:spPr>
          <a:xfrm>
            <a:off x="6373564" y="3027164"/>
            <a:ext cx="212779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۰.۴۵</a:t>
            </a:r>
            <a:endParaRPr lang="ar-SA" sz="1100" dirty="0"/>
          </a:p>
        </p:txBody>
      </p:sp>
      <p:sp>
        <p:nvSpPr>
          <p:cNvPr id="34" name="Text 32"/>
          <p:cNvSpPr/>
          <p:nvPr/>
        </p:nvSpPr>
        <p:spPr>
          <a:xfrm>
            <a:off x="185663" y="3438376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افزایش تقاضا</a:t>
            </a:r>
            <a:endParaRPr lang="fa-IR" sz="1100" dirty="0"/>
          </a:p>
        </p:txBody>
      </p:sp>
      <p:sp>
        <p:nvSpPr>
          <p:cNvPr id="35" name="Text 33"/>
          <p:cNvSpPr/>
          <p:nvPr/>
        </p:nvSpPr>
        <p:spPr>
          <a:xfrm>
            <a:off x="1976884" y="3438376"/>
            <a:ext cx="16392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۱۰</a:t>
            </a:r>
            <a:endParaRPr lang="ar-SA" sz="1100" dirty="0"/>
          </a:p>
        </p:txBody>
      </p:sp>
      <p:sp>
        <p:nvSpPr>
          <p:cNvPr id="36" name="Text 34"/>
          <p:cNvSpPr/>
          <p:nvPr/>
        </p:nvSpPr>
        <p:spPr>
          <a:xfrm>
            <a:off x="3442469" y="3438376"/>
            <a:ext cx="131355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۸</a:t>
            </a:r>
            <a:endParaRPr lang="ar-SA" sz="1100" dirty="0"/>
          </a:p>
        </p:txBody>
      </p:sp>
      <p:sp>
        <p:nvSpPr>
          <p:cNvPr id="37" name="Text 35"/>
          <p:cNvSpPr/>
          <p:nvPr/>
        </p:nvSpPr>
        <p:spPr>
          <a:xfrm>
            <a:off x="4582344" y="3438376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3300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FIFO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73564" y="3438376"/>
            <a:ext cx="212779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۰.۳۵</a:t>
            </a:r>
            <a:endParaRPr lang="ar-SA" sz="1100" dirty="0"/>
          </a:p>
        </p:txBody>
      </p:sp>
      <p:sp>
        <p:nvSpPr>
          <p:cNvPr id="39" name="Text 37"/>
          <p:cNvSpPr/>
          <p:nvPr/>
        </p:nvSpPr>
        <p:spPr>
          <a:xfrm>
            <a:off x="185663" y="3849588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اولویت + تقاضا</a:t>
            </a:r>
            <a:endParaRPr lang="fa-IR" sz="1100" dirty="0"/>
          </a:p>
        </p:txBody>
      </p:sp>
      <p:sp>
        <p:nvSpPr>
          <p:cNvPr id="40" name="Text 38"/>
          <p:cNvSpPr/>
          <p:nvPr/>
        </p:nvSpPr>
        <p:spPr>
          <a:xfrm>
            <a:off x="1976884" y="3849588"/>
            <a:ext cx="163926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۱۰</a:t>
            </a:r>
            <a:endParaRPr lang="ar-SA" sz="1100" dirty="0"/>
          </a:p>
        </p:txBody>
      </p:sp>
      <p:sp>
        <p:nvSpPr>
          <p:cNvPr id="41" name="Text 39"/>
          <p:cNvSpPr/>
          <p:nvPr/>
        </p:nvSpPr>
        <p:spPr>
          <a:xfrm>
            <a:off x="3442469" y="3849588"/>
            <a:ext cx="131355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۸</a:t>
            </a:r>
            <a:endParaRPr lang="ar-SA" sz="1100" dirty="0"/>
          </a:p>
        </p:txBody>
      </p:sp>
      <p:sp>
        <p:nvSpPr>
          <p:cNvPr id="42" name="Text 40"/>
          <p:cNvSpPr/>
          <p:nvPr/>
        </p:nvSpPr>
        <p:spPr>
          <a:xfrm>
            <a:off x="4582344" y="3849588"/>
            <a:ext cx="1964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اولویت‌بندی</a:t>
            </a:r>
            <a:endParaRPr lang="fa-IR" sz="1100" dirty="0"/>
          </a:p>
        </p:txBody>
      </p:sp>
      <p:sp>
        <p:nvSpPr>
          <p:cNvPr id="43" name="Text 41"/>
          <p:cNvSpPr/>
          <p:nvPr/>
        </p:nvSpPr>
        <p:spPr>
          <a:xfrm>
            <a:off x="6373564" y="3849588"/>
            <a:ext cx="212779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ar-SA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۰.۳۵</a:t>
            </a:r>
            <a:endParaRPr lang="ar-SA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095054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شبیه سازی مصور</a:t>
            </a:r>
            <a:endParaRPr lang="fa-IR" sz="2750" dirty="0"/>
          </a:p>
        </p:txBody>
      </p:sp>
      <p:sp>
        <p:nvSpPr>
          <p:cNvPr id="3" name="Text 1"/>
          <p:cNvSpPr/>
          <p:nvPr/>
        </p:nvSpPr>
        <p:spPr>
          <a:xfrm>
            <a:off x="38919" y="2821558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برای درک راحت تر شبیه سازی، فرایند ها را مصور سازی کرده ایم: </a:t>
            </a:r>
            <a:endParaRPr lang="fa-IR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722090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تحلیل یافته ها</a:t>
            </a:r>
            <a:endParaRPr lang="fa-IR" sz="2750" dirty="0"/>
          </a:p>
        </p:txBody>
      </p:sp>
      <p:sp>
        <p:nvSpPr>
          <p:cNvPr id="3" name="Shape 1"/>
          <p:cNvSpPr/>
          <p:nvPr/>
        </p:nvSpPr>
        <p:spPr>
          <a:xfrm>
            <a:off x="6025158" y="2377678"/>
            <a:ext cx="2622724" cy="1043657"/>
          </a:xfrm>
          <a:prstGeom prst="roundRect">
            <a:avLst>
              <a:gd name="adj" fmla="val 2038"/>
            </a:avLst>
          </a:prstGeom>
          <a:solidFill>
            <a:srgbClr val="F9F7F7"/>
          </a:solidFill>
          <a:ln/>
        </p:spPr>
      </p:sp>
      <p:sp>
        <p:nvSpPr>
          <p:cNvPr id="4" name="Text 2"/>
          <p:cNvSpPr/>
          <p:nvPr/>
        </p:nvSpPr>
        <p:spPr>
          <a:xfrm>
            <a:off x="6166917" y="2519437"/>
            <a:ext cx="23392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بهره‌ وری ماشین</a:t>
            </a:r>
            <a:endParaRPr lang="fa-IR" sz="1350" dirty="0"/>
          </a:p>
        </p:txBody>
      </p:sp>
      <p:sp>
        <p:nvSpPr>
          <p:cNvPr id="5" name="Text 3"/>
          <p:cNvSpPr/>
          <p:nvPr/>
        </p:nvSpPr>
        <p:spPr>
          <a:xfrm>
            <a:off x="6166917" y="2825948"/>
            <a:ext cx="23392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نوسان پایدار حول </a:t>
            </a:r>
            <a:r>
              <a:rPr lang="ar-SA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۶۰٪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ظرفیت کافی در حالت عادی</a:t>
            </a:r>
            <a:endParaRPr lang="fa-IR" sz="1100" dirty="0"/>
          </a:p>
        </p:txBody>
      </p:sp>
      <p:sp>
        <p:nvSpPr>
          <p:cNvPr id="6" name="Shape 4"/>
          <p:cNvSpPr/>
          <p:nvPr/>
        </p:nvSpPr>
        <p:spPr>
          <a:xfrm>
            <a:off x="3260675" y="2377678"/>
            <a:ext cx="2622724" cy="1043657"/>
          </a:xfrm>
          <a:prstGeom prst="roundRect">
            <a:avLst>
              <a:gd name="adj" fmla="val 2038"/>
            </a:avLst>
          </a:prstGeom>
          <a:solidFill>
            <a:srgbClr val="F9F7F7"/>
          </a:solidFill>
          <a:ln/>
        </p:spPr>
      </p:sp>
      <p:sp>
        <p:nvSpPr>
          <p:cNvPr id="7" name="Text 5"/>
          <p:cNvSpPr/>
          <p:nvPr/>
        </p:nvSpPr>
        <p:spPr>
          <a:xfrm>
            <a:off x="3402434" y="2519437"/>
            <a:ext cx="23392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ar-SA" alt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طول صف بافر</a:t>
            </a:r>
            <a:endParaRPr lang="ar-SA" sz="1350" dirty="0"/>
          </a:p>
        </p:txBody>
      </p:sp>
      <p:sp>
        <p:nvSpPr>
          <p:cNvPr id="8" name="Text 6"/>
          <p:cNvSpPr/>
          <p:nvPr/>
        </p:nvSpPr>
        <p:spPr>
          <a:xfrm>
            <a:off x="3402434" y="2825948"/>
            <a:ext cx="23392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قله‌ های تیز نشان‌دهنده </a:t>
            </a: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ازدحام لحظه‌ ای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ناشی از نوسانات ورودی می باشند</a:t>
            </a:r>
            <a:endParaRPr lang="fa-IR" sz="1100" dirty="0"/>
          </a:p>
        </p:txBody>
      </p:sp>
      <p:sp>
        <p:nvSpPr>
          <p:cNvPr id="9" name="Shape 7"/>
          <p:cNvSpPr/>
          <p:nvPr/>
        </p:nvSpPr>
        <p:spPr>
          <a:xfrm>
            <a:off x="496193" y="2377678"/>
            <a:ext cx="2622724" cy="1043657"/>
          </a:xfrm>
          <a:prstGeom prst="roundRect">
            <a:avLst>
              <a:gd name="adj" fmla="val 2038"/>
            </a:avLst>
          </a:prstGeom>
          <a:solidFill>
            <a:srgbClr val="F9F7F7"/>
          </a:solidFill>
          <a:ln/>
        </p:spPr>
      </p:sp>
      <p:sp>
        <p:nvSpPr>
          <p:cNvPr id="10" name="Text 8"/>
          <p:cNvSpPr/>
          <p:nvPr/>
        </p:nvSpPr>
        <p:spPr>
          <a:xfrm>
            <a:off x="637952" y="2519437"/>
            <a:ext cx="23392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کنترل گره‌ های ترافیکی</a:t>
            </a:r>
            <a:endParaRPr lang="fa-IR" sz="1350" dirty="0"/>
          </a:p>
        </p:txBody>
      </p:sp>
      <p:sp>
        <p:nvSpPr>
          <p:cNvPr id="11" name="Text 9"/>
          <p:cNvSpPr/>
          <p:nvPr/>
        </p:nvSpPr>
        <p:spPr>
          <a:xfrm>
            <a:off x="637952" y="2825948"/>
            <a:ext cx="233920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گره‌ ها موقت هستند و با </a:t>
            </a: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سیاست صف‌ بندی مناسب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قابل کنترل‌ اند</a:t>
            </a:r>
            <a:endParaRPr lang="fa-IR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79772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یافته کلیدی — نرخ رد بر اساس اولویت</a:t>
            </a:r>
            <a:endParaRPr lang="fa-IR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494830"/>
            <a:ext cx="3902943" cy="28093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49701" y="1477119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13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تحلیل نتایج</a:t>
            </a:r>
            <a:endParaRPr lang="fa-IR" sz="1350" dirty="0"/>
          </a:p>
        </p:txBody>
      </p:sp>
      <p:sp>
        <p:nvSpPr>
          <p:cNvPr id="5" name="Text 2"/>
          <p:cNvSpPr/>
          <p:nvPr/>
        </p:nvSpPr>
        <p:spPr>
          <a:xfrm>
            <a:off x="4749701" y="1840334"/>
            <a:ext cx="3902943" cy="146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r" rtl="1">
              <a:lnSpc>
                <a:spcPct val="133000"/>
              </a:lnSpc>
              <a:buSzPct val="100000"/>
              <a:buChar char="•"/>
            </a:pP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افزایش تقاضا + FIFO: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کار های بحرانی (قرمز) بیشترین نرخ رد را دارند</a:t>
            </a:r>
            <a:endParaRPr lang="fa-IR" sz="1100" dirty="0"/>
          </a:p>
          <a:p>
            <a:pPr marL="223520" indent="-223520" algn="r" rtl="1">
              <a:lnSpc>
                <a:spcPct val="133000"/>
              </a:lnSpc>
              <a:buSzPct val="100000"/>
              <a:buChar char="•"/>
            </a:pP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اولویت + افزایش تقاضا: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نرخ رد کار های بحرانی به شدت کاهش می‌ یابد </a:t>
            </a:r>
            <a:endParaRPr lang="fa-IR" sz="1100" dirty="0"/>
          </a:p>
          <a:p>
            <a:pPr marL="223520" indent="-223520" algn="r" rtl="1">
              <a:lnSpc>
                <a:spcPct val="133000"/>
              </a:lnSpc>
              <a:buSzPct val="100000"/>
              <a:buChar char="•"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سیاست اولویت‌ بندی </a:t>
            </a:r>
            <a:r>
              <a:rPr lang="fa-IR" altLang="en-US" sz="11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بدون افزایش ظرفیت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، کارهای حیاتی را نجات می‌ دهد</a:t>
            </a:r>
            <a:endParaRPr lang="fa-IR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868239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نتیجه‌ گیری نهایی</a:t>
            </a:r>
            <a:endParaRPr lang="fa-IR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2594744"/>
            <a:ext cx="8151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در حالت کلی، سیاست "صف اولویت بندی" بهترین عملکرد را دارد. </a:t>
            </a:r>
            <a:endParaRPr lang="fa-IR" sz="1100" dirty="0"/>
          </a:p>
          <a:p>
            <a:pPr marL="0" indent="0" algn="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این سیاست در زمان بار عادی تاثیر منفی بر میانگین زمان انتظار ندارد، اما هنگام افزایش تقاضا، باعث می شود کار های حیاتی در اولویت قرار داده شوند. </a:t>
            </a:r>
            <a:endParaRPr lang="fa-IR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8" y="2146114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 rtl="1">
              <a:lnSpc>
                <a:spcPct val="104000"/>
              </a:lnSpc>
              <a:buNone/>
            </a:pPr>
            <a:r>
              <a:rPr lang="fa-IR" alt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با تشکر از توجه شما</a:t>
            </a:r>
            <a:endParaRPr lang="fa-IR" sz="2750" dirty="0"/>
          </a:p>
        </p:txBody>
      </p:sp>
      <p:sp>
        <p:nvSpPr>
          <p:cNvPr id="4" name="Text 2"/>
          <p:cNvSpPr/>
          <p:nvPr/>
        </p:nvSpPr>
        <p:spPr>
          <a:xfrm>
            <a:off x="267519" y="2715013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 rtl="1">
              <a:lnSpc>
                <a:spcPct val="133000"/>
              </a:lnSpc>
              <a:buNone/>
            </a:pP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کسری فولادی | امید </a:t>
            </a:r>
            <a:r>
              <a:rPr lang="fa-IR" altLang="en-US" sz="1100" dirty="0" smtClean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طالب ‌پور </a:t>
            </a:r>
            <a:r>
              <a:rPr lang="fa-IR" alt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— بهار ۱۴۰۵</a:t>
            </a:r>
            <a:endParaRPr lang="fa-I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391</Words>
  <Application>Microsoft Office PowerPoint</Application>
  <PresentationFormat>On-screen Show (16:9)</PresentationFormat>
  <Paragraphs>80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Platypi Medium</vt:lpstr>
      <vt:lpstr>Source Serif 4</vt:lpstr>
      <vt:lpstr>Calibri</vt:lpstr>
      <vt:lpstr>Source Serif 4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Lenovo</cp:lastModifiedBy>
  <cp:revision>8</cp:revision>
  <dcterms:created xsi:type="dcterms:W3CDTF">2026-07-16T21:31:03Z</dcterms:created>
  <dcterms:modified xsi:type="dcterms:W3CDTF">2026-07-16T21:35:54Z</dcterms:modified>
</cp:coreProperties>
</file>